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8" r:id="rId3"/>
    <p:sldId id="257" r:id="rId4"/>
    <p:sldId id="258" r:id="rId5"/>
    <p:sldId id="259" r:id="rId6"/>
    <p:sldId id="273" r:id="rId7"/>
    <p:sldId id="260" r:id="rId8"/>
    <p:sldId id="278" r:id="rId9"/>
    <p:sldId id="275" r:id="rId10"/>
    <p:sldId id="261" r:id="rId11"/>
    <p:sldId id="276" r:id="rId12"/>
    <p:sldId id="277" r:id="rId13"/>
    <p:sldId id="269" r:id="rId14"/>
    <p:sldId id="262" r:id="rId15"/>
    <p:sldId id="280" r:id="rId16"/>
    <p:sldId id="274" r:id="rId17"/>
    <p:sldId id="279" r:id="rId18"/>
    <p:sldId id="270" r:id="rId19"/>
    <p:sldId id="263" r:id="rId20"/>
    <p:sldId id="271" r:id="rId21"/>
    <p:sldId id="264" r:id="rId22"/>
    <p:sldId id="281" r:id="rId23"/>
    <p:sldId id="282" r:id="rId24"/>
    <p:sldId id="272" r:id="rId25"/>
    <p:sldId id="265" r:id="rId26"/>
    <p:sldId id="283" r:id="rId27"/>
    <p:sldId id="266" r:id="rId28"/>
    <p:sldId id="267"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B6C9CCB-AACF-9A28-DE6F-442B230D34EF}">
          <p14:sldIdLst>
            <p14:sldId id="256"/>
            <p14:sldId id="268"/>
            <p14:sldId id="257"/>
          </p14:sldIdLst>
        </p14:section>
        <p14:section name="Diseño" id="{29FDE193-439A-C5DB-6CEE-6E4049A70C5F}">
          <p14:sldIdLst>
            <p14:sldId id="258"/>
            <p14:sldId id="259"/>
            <p14:sldId id="273"/>
            <p14:sldId id="260"/>
            <p14:sldId id="278"/>
            <p14:sldId id="275"/>
            <p14:sldId id="261"/>
            <p14:sldId id="276"/>
            <p14:sldId id="277"/>
            <p14:sldId id="269"/>
            <p14:sldId id="262"/>
            <p14:sldId id="280"/>
            <p14:sldId id="274"/>
            <p14:sldId id="279"/>
            <p14:sldId id="270"/>
            <p14:sldId id="263"/>
            <p14:sldId id="271"/>
            <p14:sldId id="264"/>
            <p14:sldId id="281"/>
            <p14:sldId id="282"/>
            <p14:sldId id="272"/>
          </p14:sldIdLst>
        </p14:section>
        <p14:section name="Resultados" id="{9DC1C459-CD62-71D0-34A1-315218D7F07A}">
          <p14:sldIdLst>
            <p14:sldId id="265"/>
            <p14:sldId id="283"/>
            <p14:sldId id="266"/>
            <p14:sldId id="267"/>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τ = 68 ms</c:v>
                </c:pt>
              </c:strCache>
            </c:strRef>
          </c:tx>
          <c:spPr>
            <a:ln w="31750" cap="flat">
              <a:solidFill>
                <a:srgbClr val="9DC9C6"/>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Sheet1!$B$2:$B$19</c:f>
              <c:numCache>
                <c:formatCode>General</c:formatCode>
                <c:ptCount val="18"/>
                <c:pt idx="0">
                  <c:v>413</c:v>
                </c:pt>
                <c:pt idx="1">
                  <c:v>364</c:v>
                </c:pt>
                <c:pt idx="2">
                  <c:v>333</c:v>
                </c:pt>
                <c:pt idx="3">
                  <c:v>312</c:v>
                </c:pt>
                <c:pt idx="4">
                  <c:v>296</c:v>
                </c:pt>
                <c:pt idx="5">
                  <c:v>283</c:v>
                </c:pt>
                <c:pt idx="6">
                  <c:v>273</c:v>
                </c:pt>
                <c:pt idx="7">
                  <c:v>264</c:v>
                </c:pt>
                <c:pt idx="8">
                  <c:v>257</c:v>
                </c:pt>
                <c:pt idx="9">
                  <c:v>250</c:v>
                </c:pt>
                <c:pt idx="10">
                  <c:v>245</c:v>
                </c:pt>
                <c:pt idx="11">
                  <c:v>240</c:v>
                </c:pt>
                <c:pt idx="12">
                  <c:v>236</c:v>
                </c:pt>
                <c:pt idx="13">
                  <c:v>232</c:v>
                </c:pt>
                <c:pt idx="14">
                  <c:v>228</c:v>
                </c:pt>
                <c:pt idx="15">
                  <c:v>225</c:v>
                </c:pt>
                <c:pt idx="16">
                  <c:v>222</c:v>
                </c:pt>
                <c:pt idx="17">
                  <c:v>219</c:v>
                </c:pt>
              </c:numCache>
            </c:numRef>
          </c:val>
          <c:smooth val="0"/>
          <c:extLst>
            <c:ext xmlns:c16="http://schemas.microsoft.com/office/drawing/2014/chart" uri="{C3380CC4-5D6E-409C-BE32-E72D297353CC}">
              <c16:uniqueId val="{00000000-6103-4B3C-AE18-97C9457DDD60}"/>
            </c:ext>
          </c:extLst>
        </c:ser>
        <c:ser>
          <c:idx val="1"/>
          <c:order val="1"/>
          <c:tx>
            <c:strRef>
              <c:f>Sheet1!$C$1</c:f>
              <c:strCache>
                <c:ptCount val="1"/>
                <c:pt idx="0">
                  <c:v>τ = 100 ms (design)</c:v>
                </c:pt>
              </c:strCache>
            </c:strRef>
          </c:tx>
          <c:spPr>
            <a:ln w="31750" cap="flat">
              <a:solidFill>
                <a:srgbClr val="0E8C88"/>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Sheet1!$C$2:$C$19</c:f>
              <c:numCache>
                <c:formatCode>General</c:formatCode>
                <c:ptCount val="18"/>
                <c:pt idx="0">
                  <c:v>336</c:v>
                </c:pt>
                <c:pt idx="1">
                  <c:v>290</c:v>
                </c:pt>
                <c:pt idx="2">
                  <c:v>262</c:v>
                </c:pt>
                <c:pt idx="3">
                  <c:v>242</c:v>
                </c:pt>
                <c:pt idx="4">
                  <c:v>228</c:v>
                </c:pt>
                <c:pt idx="5">
                  <c:v>217</c:v>
                </c:pt>
                <c:pt idx="6">
                  <c:v>208</c:v>
                </c:pt>
                <c:pt idx="7">
                  <c:v>201</c:v>
                </c:pt>
                <c:pt idx="8">
                  <c:v>195</c:v>
                </c:pt>
                <c:pt idx="9">
                  <c:v>189</c:v>
                </c:pt>
                <c:pt idx="10">
                  <c:v>185</c:v>
                </c:pt>
                <c:pt idx="11">
                  <c:v>181</c:v>
                </c:pt>
                <c:pt idx="12">
                  <c:v>177</c:v>
                </c:pt>
                <c:pt idx="13">
                  <c:v>174</c:v>
                </c:pt>
                <c:pt idx="14">
                  <c:v>171</c:v>
                </c:pt>
                <c:pt idx="15">
                  <c:v>168</c:v>
                </c:pt>
                <c:pt idx="16">
                  <c:v>165</c:v>
                </c:pt>
                <c:pt idx="17">
                  <c:v>163</c:v>
                </c:pt>
              </c:numCache>
            </c:numRef>
          </c:val>
          <c:smooth val="0"/>
          <c:extLst>
            <c:ext xmlns:c16="http://schemas.microsoft.com/office/drawing/2014/chart" uri="{C3380CC4-5D6E-409C-BE32-E72D297353CC}">
              <c16:uniqueId val="{00000001-6103-4B3C-AE18-97C9457DDD60}"/>
            </c:ext>
          </c:extLst>
        </c:ser>
        <c:ser>
          <c:idx val="2"/>
          <c:order val="2"/>
          <c:tx>
            <c:strRef>
              <c:f>Sheet1!$D$1</c:f>
              <c:strCache>
                <c:ptCount val="1"/>
                <c:pt idx="0">
                  <c:v>τ = 150 ms</c:v>
                </c:pt>
              </c:strCache>
            </c:strRef>
          </c:tx>
          <c:spPr>
            <a:ln w="31750" cap="flat">
              <a:solidFill>
                <a:srgbClr val="E4572E"/>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Sheet1!$D$2:$D$19</c:f>
              <c:numCache>
                <c:formatCode>General</c:formatCode>
                <c:ptCount val="18"/>
                <c:pt idx="0">
                  <c:v>261</c:v>
                </c:pt>
                <c:pt idx="1">
                  <c:v>220</c:v>
                </c:pt>
                <c:pt idx="2">
                  <c:v>196</c:v>
                </c:pt>
                <c:pt idx="3">
                  <c:v>180</c:v>
                </c:pt>
                <c:pt idx="4">
                  <c:v>168</c:v>
                </c:pt>
                <c:pt idx="5">
                  <c:v>159</c:v>
                </c:pt>
                <c:pt idx="6">
                  <c:v>152</c:v>
                </c:pt>
                <c:pt idx="7">
                  <c:v>146</c:v>
                </c:pt>
                <c:pt idx="8">
                  <c:v>141</c:v>
                </c:pt>
                <c:pt idx="9">
                  <c:v>137</c:v>
                </c:pt>
                <c:pt idx="10">
                  <c:v>133</c:v>
                </c:pt>
                <c:pt idx="11">
                  <c:v>130</c:v>
                </c:pt>
                <c:pt idx="12">
                  <c:v>127</c:v>
                </c:pt>
                <c:pt idx="13">
                  <c:v>125</c:v>
                </c:pt>
                <c:pt idx="14">
                  <c:v>122</c:v>
                </c:pt>
                <c:pt idx="15">
                  <c:v>120</c:v>
                </c:pt>
                <c:pt idx="16">
                  <c:v>118</c:v>
                </c:pt>
                <c:pt idx="17">
                  <c:v>117</c:v>
                </c:pt>
              </c:numCache>
            </c:numRef>
          </c:val>
          <c:smooth val="0"/>
          <c:extLst>
            <c:ext xmlns:c16="http://schemas.microsoft.com/office/drawing/2014/chart" uri="{C3380CC4-5D6E-409C-BE32-E72D297353CC}">
              <c16:uniqueId val="{00000002-6103-4B3C-AE18-97C9457DDD60}"/>
            </c:ext>
          </c:extLst>
        </c:ser>
        <c:ser>
          <c:idx val="3"/>
          <c:order val="3"/>
          <c:tx>
            <c:strRef>
              <c:f>Sheet1!$E$1</c:f>
              <c:strCache>
                <c:ptCount val="1"/>
                <c:pt idx="0">
                  <c:v>150 bpm target</c:v>
                </c:pt>
              </c:strCache>
            </c:strRef>
          </c:tx>
          <c:spPr>
            <a:ln w="31750" cap="flat">
              <a:solidFill>
                <a:srgbClr val="9AA7B0"/>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Sheet1!$E$2:$E$19</c:f>
              <c:numCache>
                <c:formatCode>General</c:formatCode>
                <c:ptCount val="18"/>
                <c:pt idx="0">
                  <c:v>150</c:v>
                </c:pt>
                <c:pt idx="1">
                  <c:v>150</c:v>
                </c:pt>
                <c:pt idx="2">
                  <c:v>150</c:v>
                </c:pt>
                <c:pt idx="3">
                  <c:v>150</c:v>
                </c:pt>
                <c:pt idx="4">
                  <c:v>150</c:v>
                </c:pt>
                <c:pt idx="5">
                  <c:v>150</c:v>
                </c:pt>
                <c:pt idx="6">
                  <c:v>150</c:v>
                </c:pt>
                <c:pt idx="7">
                  <c:v>150</c:v>
                </c:pt>
                <c:pt idx="8">
                  <c:v>150</c:v>
                </c:pt>
                <c:pt idx="9">
                  <c:v>150</c:v>
                </c:pt>
                <c:pt idx="10">
                  <c:v>150</c:v>
                </c:pt>
                <c:pt idx="11">
                  <c:v>150</c:v>
                </c:pt>
                <c:pt idx="12">
                  <c:v>150</c:v>
                </c:pt>
                <c:pt idx="13">
                  <c:v>150</c:v>
                </c:pt>
                <c:pt idx="14">
                  <c:v>150</c:v>
                </c:pt>
                <c:pt idx="15">
                  <c:v>150</c:v>
                </c:pt>
                <c:pt idx="16">
                  <c:v>150</c:v>
                </c:pt>
                <c:pt idx="17">
                  <c:v>150</c:v>
                </c:pt>
              </c:numCache>
            </c:numRef>
          </c:val>
          <c:smooth val="0"/>
          <c:extLst>
            <c:ext xmlns:c16="http://schemas.microsoft.com/office/drawing/2014/chart" uri="{C3380CC4-5D6E-409C-BE32-E72D297353CC}">
              <c16:uniqueId val="{00000003-6103-4B3C-AE18-97C9457DDD6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B7A8C"/>
                    </a:solidFill>
                    <a:latin typeface="+mn-lt"/>
                  </a:defRPr>
                </a:pPr>
                <a:r>
                  <a:rPr lang="es-CO" sz="1100" b="0" i="0" u="none" strike="noStrike">
                    <a:solidFill>
                      <a:srgbClr val="5B7A8C"/>
                    </a:solidFill>
                    <a:latin typeface="+mn-lt"/>
                  </a:rPr>
                  <a:t>Input amplitude (Vpp)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A8C"/>
                </a:solidFill>
                <a:latin typeface="+mn-lt"/>
              </a:defRPr>
            </a:pPr>
            <a:endParaRPr lang="en-US"/>
          </a:p>
        </c:txPr>
        <c:crossAx val="2094734552"/>
        <c:crosses val="autoZero"/>
        <c:auto val="1"/>
        <c:lblAlgn val="ctr"/>
        <c:lblOffset val="100"/>
        <c:tickLblSkip val="3"/>
        <c:noMultiLvlLbl val="1"/>
      </c:catAx>
      <c:valAx>
        <c:axId val="2094734552"/>
        <c:scaling>
          <c:orientation val="minMax"/>
          <c:max val="400"/>
          <c:min val="0"/>
        </c:scaling>
        <c:delete val="0"/>
        <c:axPos val="l"/>
        <c:majorGridlines>
          <c:spPr>
            <a:ln w="9525" cap="flat">
              <a:solidFill>
                <a:srgbClr val="DDE5E8"/>
              </a:solidFill>
              <a:prstDash val="solid"/>
              <a:round/>
            </a:ln>
          </c:spPr>
        </c:majorGridlines>
        <c:title>
          <c:tx>
            <c:rich>
              <a:bodyPr/>
              <a:lstStyle/>
              <a:p>
                <a:pPr>
                  <a:defRPr sz="1100" b="0" i="0" u="none" strike="noStrike">
                    <a:solidFill>
                      <a:srgbClr val="5B7A8C"/>
                    </a:solidFill>
                    <a:latin typeface="+mn-lt"/>
                  </a:defRPr>
                </a:pPr>
                <a:r>
                  <a:rPr lang="es-CO" sz="1100" b="0" i="0" u="none" strike="noStrike">
                    <a:solidFill>
                      <a:srgbClr val="5B7A8C"/>
                    </a:solidFill>
                    <a:latin typeface="+mn-lt"/>
                  </a:rPr>
                  <a:t>Max HR (bpm)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A8C"/>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17242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98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Heartbeat detector overview: the goal is to deliver one clean pulse per QRS complex using only operational amplifiers.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solves one problem: the rectifier removes the polarity dependence, the peak detector merges the QRS lobes into a single event, and the Schmitt trigger turns the envelope into a clean digital pulse.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amplifier, half-wave rectifier and summer. Bottom row: buffered peak detector, Schmitt comparator and LED. The oscilloscope probes input, Vr, Venv and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gain must lie between 4.04 (to clear the threshold with margin) and 5.25 (to avoid saturation). 39 k over 10 k gives 4.9 with standard values.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diode is inside the feedback loop: the op-amp drives its output an extra 0.6 V, so that drop does not appear at Vhw. D1 keeps the op-amp out of saturation on the negative half-cycle.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R4 feeds the full signal with weight 1 and R5 the half-wave with weight 2. On the positive half-cycle this flips the sign; on the negative one only R4 acts. Resistors must be 1 %.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 above 90 ms so the beat is not released between QRS lobes; below 110 ms so it releases before the next beat at 150 bpm. The buffer keeps R8 from discharging the capacitor.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peak takes longer to discharge, so the limit drops with amplitude. With τ = 100 ms the worst case (2 Vpp) is 163 bpm, above the 150 bpm target. Simulation confirmed that at 180 bpm with 2 Vpp the comparator stays high.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feedback: there is no virtual short. VTH sits below the minimum peak (1.22 V) and VTL well above the offset. Hysteresis prevents noise-induced chatter.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 the envelope holds and decays; the output lasts about 400 ms. Sine: two pulses per cycle, showing both polarities are detected. Synthetic heartbeat: a single pulse per beat despite multiple lobes and the T wave.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Proteus values match the calculations with errors of 1.6 % or less. Comparison with bench measurements is still pending.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improvements: instrumentation amplifier with band-pass filter, adaptive threshold, and beat counting with a microcontroller.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8046720" cy="118872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
        <p:nvSpPr>
          <p:cNvPr id="3" name="Text 0"/>
          <p:cNvSpPr>
            <a:spLocks noGrp="1"/>
          </p:cNvSpPr>
          <p:nvPr>
            <p:ph type="body" idx="101" hasCustomPrompt="1"/>
          </p:nvPr>
        </p:nvSpPr>
        <p:spPr>
          <a:xfrm>
            <a:off x="548640" y="2514600"/>
            <a:ext cx="8046720" cy="548640"/>
          </a:xfrm>
          <a:prstGeom prst="rect">
            <a:avLst/>
          </a:prstGeom>
          <a:noFill/>
          <a:ln/>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buNone/>
              <a:defRPr lang="en-US" sz="3000" b="1" dirty="0">
                <a:solidFill>
                  <a:schemeClr val="bg1"/>
                </a:solidFill>
              </a:defRPr>
            </a:lvl1pPr>
          </a:lstStyle>
          <a:p>
            <a:pPr marL="0" indent="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8046720" cy="1188720"/>
          </a:xfrm>
          <a:prstGeom prst="rect">
            <a:avLst/>
          </a:prstGeom>
          <a:noFill/>
          <a:ln/>
        </p:spPr>
        <p:txBody>
          <a:bodyPr wrap="square" lIns="0" tIns="0" rIns="0" bIns="0" rtlCol="0" anchor="b"/>
          <a:lstStyle/>
          <a:p>
            <a:pPr marL="0" indent="0">
              <a:buNone/>
            </a:pPr>
            <a:r>
              <a:rPr lang="en-US" sz="4000" b="1" dirty="0">
                <a:solidFill>
                  <a:schemeClr val="bg1"/>
                </a:solidFill>
              </a:rPr>
              <a:t>Op-Amp ECG Heartbeat Detector</a:t>
            </a:r>
            <a:endParaRPr lang="en-US" sz="4000" dirty="0"/>
          </a:p>
        </p:txBody>
      </p:sp>
      <p:sp>
        <p:nvSpPr>
          <p:cNvPr id="3" name="Text 0"/>
          <p:cNvSpPr>
            <a:spLocks noGrp="1"/>
          </p:cNvSpPr>
          <p:nvPr>
            <p:ph type="body" idx="101" hasCustomPrompt="1"/>
          </p:nvPr>
        </p:nvSpPr>
        <p:spPr>
          <a:xfrm>
            <a:off x="548640" y="2514600"/>
            <a:ext cx="8046720" cy="548640"/>
          </a:xfrm>
          <a:prstGeom prst="rect">
            <a:avLst/>
          </a:prstGeom>
          <a:noFill/>
          <a:ln/>
        </p:spPr>
        <p:txBody>
          <a:bodyPr wrap="square" lIns="0" tIns="0" rIns="0" bIns="0" rtlCol="0"/>
          <a:lstStyle/>
          <a:p>
            <a:pPr marL="0" indent="0">
              <a:buNone/>
            </a:pPr>
            <a:r>
              <a:rPr lang="en-US" sz="2000" dirty="0">
                <a:solidFill>
                  <a:schemeClr val="accent4"/>
                </a:solidFill>
              </a:rPr>
              <a:t>Precision rectifier · peak detector · Schmitt comparator</a:t>
            </a:r>
            <a:endParaRPr lang="en-US" sz="2000" dirty="0"/>
          </a:p>
        </p:txBody>
      </p:sp>
      <p:sp>
        <p:nvSpPr>
          <p:cNvPr id="4" name="ECG 1"/>
          <p:cNvSpPr/>
          <p:nvPr/>
        </p:nvSpPr>
        <p:spPr>
          <a:xfrm>
            <a:off x="548640" y="3657600"/>
            <a:ext cx="2011680" cy="0"/>
          </a:xfrm>
          <a:prstGeom prst="line">
            <a:avLst/>
          </a:prstGeom>
          <a:noFill/>
          <a:ln w="31750">
            <a:solidFill>
              <a:schemeClr val="accent2"/>
            </a:solidFill>
            <a:prstDash val="solid"/>
          </a:ln>
        </p:spPr>
        <p:txBody>
          <a:bodyPr/>
          <a:p/>
        </p:txBody>
      </p:sp>
      <p:sp>
        <p:nvSpPr>
          <p:cNvPr id="5" name="ECG 2"/>
          <p:cNvSpPr/>
          <p:nvPr/>
        </p:nvSpPr>
        <p:spPr>
          <a:xfrm flipV="1">
            <a:off x="2560320" y="3246120"/>
            <a:ext cx="228600" cy="411480"/>
          </a:xfrm>
          <a:prstGeom prst="line">
            <a:avLst/>
          </a:prstGeom>
          <a:noFill/>
          <a:ln w="31750">
            <a:solidFill>
              <a:schemeClr val="accent2"/>
            </a:solidFill>
            <a:prstDash val="solid"/>
          </a:ln>
        </p:spPr>
        <p:txBody>
          <a:bodyPr/>
          <a:p/>
        </p:txBody>
      </p:sp>
      <p:sp>
        <p:nvSpPr>
          <p:cNvPr id="6" name="ECG 3"/>
          <p:cNvSpPr/>
          <p:nvPr/>
        </p:nvSpPr>
        <p:spPr>
          <a:xfrm>
            <a:off x="2788920" y="3246120"/>
            <a:ext cx="182880" cy="685800"/>
          </a:xfrm>
          <a:prstGeom prst="line">
            <a:avLst/>
          </a:prstGeom>
          <a:noFill/>
          <a:ln w="31750">
            <a:solidFill>
              <a:schemeClr val="accent2"/>
            </a:solidFill>
            <a:prstDash val="solid"/>
          </a:ln>
        </p:spPr>
        <p:txBody>
          <a:bodyPr/>
          <a:p/>
        </p:txBody>
      </p:sp>
      <p:sp>
        <p:nvSpPr>
          <p:cNvPr id="7" name="ECG 4"/>
          <p:cNvSpPr/>
          <p:nvPr/>
        </p:nvSpPr>
        <p:spPr>
          <a:xfrm flipV="1">
            <a:off x="2971800" y="3657600"/>
            <a:ext cx="137160" cy="274320"/>
          </a:xfrm>
          <a:prstGeom prst="line">
            <a:avLst/>
          </a:prstGeom>
          <a:noFill/>
          <a:ln w="31750">
            <a:solidFill>
              <a:schemeClr val="accent2"/>
            </a:solidFill>
            <a:prstDash val="solid"/>
          </a:ln>
        </p:spPr>
        <p:txBody>
          <a:bodyPr/>
          <a:p/>
        </p:txBody>
      </p:sp>
      <p:sp>
        <p:nvSpPr>
          <p:cNvPr id="8" name="ECG 5"/>
          <p:cNvSpPr/>
          <p:nvPr/>
        </p:nvSpPr>
        <p:spPr>
          <a:xfrm>
            <a:off x="3108960" y="3657600"/>
            <a:ext cx="5486400" cy="0"/>
          </a:xfrm>
          <a:prstGeom prst="line">
            <a:avLst/>
          </a:prstGeom>
          <a:noFill/>
          <a:ln w="31750">
            <a:solidFill>
              <a:schemeClr val="accent2"/>
            </a:solidFill>
            <a:prstDash val="solid"/>
          </a:ln>
        </p:spPr>
        <p:txBody>
          <a:bodyPr/>
          <a:p/>
        </p:txBody>
      </p:sp>
      <p:sp>
        <p:nvSpPr>
          <p:cNvPr id="9" name="Text 7"/>
          <p:cNvSpPr txBox="1"/>
          <p:nvPr/>
        </p:nvSpPr>
        <p:spPr>
          <a:xfrm>
            <a:off x="548640" y="4069080"/>
            <a:ext cx="8046720" cy="822960"/>
          </a:xfrm>
          <a:prstGeom prst="rect">
            <a:avLst/>
          </a:prstGeom>
          <a:noFill/>
          <a:ln/>
        </p:spPr>
        <p:txBody>
          <a:bodyPr wrap="square" lIns="0" tIns="0" rIns="0" bIns="0" rtlCol="0" anchor="t"/>
          <a:lstStyle/>
          <a:p>
            <a:pPr marL="0" indent="0">
              <a:buNone/>
            </a:pPr>
            <a:r>
              <a:rPr lang="en-US" sz="1300" b="1" dirty="0">
                <a:solidFill>
                  <a:schemeClr val="bg1"/>
                </a:solidFill>
              </a:rPr>
              <a:t>Brahiam Alberto Campiño Romero</a:t>
            </a:r>
            <a:endParaRPr lang="en-US" sz="1300" dirty="0"/>
          </a:p>
          <a:p>
            <a:pPr marL="0" indent="0">
              <a:buNone/>
            </a:pPr>
            <a:r>
              <a:rPr lang="en-US" sz="1300" dirty="0">
                <a:solidFill>
                  <a:schemeClr val="bg1"/>
                </a:solidFill>
              </a:rPr>
              <a:t>Instructor: Eng. Rodolfo José Gutiérrez González</a:t>
            </a:r>
            <a:endParaRPr lang="en-US" sz="1300" dirty="0"/>
          </a:p>
          <a:p>
            <a:pPr marL="0" indent="0">
              <a:buNone/>
            </a:pPr>
            <a:r>
              <a:rPr lang="en-US" sz="1300" dirty="0">
                <a:solidFill>
                  <a:schemeClr val="bg1"/>
                </a:solidFill>
              </a:rPr>
              <a:t>Nonlinear Circuits · Universidad de Ibagué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E9F155-FDBF-915C-4E7F-AC80A3780B1D}"/>
              </a:ext>
            </a:extLst>
          </p:cNvPr>
          <p:cNvSpPr>
            <a:spLocks noGrp="1"/>
          </p:cNvSpPr>
          <p:nvPr>
            <p:ph type="title" idx="100"/>
          </p:nvPr>
        </p:nvSpPr>
        <p:spPr>
          <a:xfrm>
            <a:off x="-2225744" y="292360"/>
            <a:ext cx="8046720" cy="1188720"/>
          </a:xfrm>
        </p:spPr>
        <p:txBody>
          <a:bodyPr/>
          <a:lstStyle/>
          <a:p>
            <a:r>
              <a:rPr lang="es-ES" dirty="0"/>
              <a:t>Problem</a:t>
            </a:r>
            <a:endParaRPr lang="es-CO" dirty="0"/>
          </a:p>
        </p:txBody>
      </p:sp>
      <p:sp>
        <p:nvSpPr>
          <p:cNvPr id="3" name="Marcador de texto 2">
            <a:extLst>
              <a:ext uri="{FF2B5EF4-FFF2-40B4-BE49-F238E27FC236}">
                <a16:creationId xmlns:a16="http://schemas.microsoft.com/office/drawing/2014/main" id="{4716C7BE-1143-13EB-28C3-8411BA4454DF}"/>
              </a:ext>
            </a:extLst>
          </p:cNvPr>
          <p:cNvSpPr>
            <a:spLocks noGrp="1"/>
          </p:cNvSpPr>
          <p:nvPr>
            <p:ph type="body" idx="101"/>
          </p:nvPr>
        </p:nvSpPr>
        <p:spPr>
          <a:xfrm>
            <a:off x="380689" y="1295400"/>
            <a:ext cx="8046720" cy="548640"/>
          </a:xfrm>
        </p:spPr>
        <p:txBody>
          <a:bodyPr/>
          <a:lstStyle/>
          <a:p>
            <a:r>
              <a:rPr lang="es-CO" b="1" dirty="0"/>
              <a:t>Design and implement an op-amp-based heartbeat detector powered from ±12 V, able to identify every QRS complex of an ideal 0.5 to 2 </a:t>
            </a:r>
            <a:r>
              <a:rPr lang="es-CO" b="1" dirty="0" err="1"/>
              <a:t>Vpp</a:t>
            </a:r>
            <a:r>
              <a:rPr lang="es-CO" b="1" dirty="0"/>
              <a:t> ECG-like signal regardless of its polarity or waveform type, delivering one clean rectangular pulse per beat over a range of 40 to 150 beats per minute.</a:t>
            </a:r>
            <a:endParaRPr lang="es-CO" dirty="0"/>
          </a:p>
          <a:p>
            <a:endParaRPr lang="es-CO" dirty="0"/>
          </a:p>
        </p:txBody>
      </p:sp>
    </p:spTree>
    <p:extLst>
      <p:ext uri="{BB962C8B-B14F-4D97-AF65-F5344CB8AC3E}">
        <p14:creationId xmlns:p14="http://schemas.microsoft.com/office/powerpoint/2010/main" val="3362390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One pulse per beat, regardless of polarity</a:t>
            </a:r>
            <a:endParaRPr lang="en-US" sz="3000" dirty="0"/>
          </a:p>
        </p:txBody>
      </p:sp>
      <p:sp>
        <p:nvSpPr>
          <p:cNvPr id="3" name="Bloque Amplificador"/>
          <p:cNvSpPr/>
          <p:nvPr/>
        </p:nvSpPr>
        <p:spPr>
          <a:xfrm>
            <a:off x="457200" y="1463040"/>
            <a:ext cx="1417320" cy="1097280"/>
          </a:xfrm>
          <a:prstGeom prst="roundRect">
            <a:avLst>
              <a:gd name="adj" fmla="val 8333"/>
            </a:avLst>
          </a:prstGeom>
          <a:solidFill>
            <a:schemeClr val="bg2"/>
          </a:solidFill>
          <a:ln w="12700">
            <a:solidFill>
              <a:schemeClr val="accent1"/>
            </a:solidFill>
            <a:prstDash val="solid"/>
          </a:ln>
        </p:spPr>
        <p:txBody>
          <a:bodyPr/>
          <a:p/>
        </p:txBody>
      </p:sp>
      <p:sp>
        <p:nvSpPr>
          <p:cNvPr id="4" name="Text 2"/>
          <p:cNvSpPr txBox="1"/>
          <p:nvPr/>
        </p:nvSpPr>
        <p:spPr>
          <a:xfrm>
            <a:off x="45720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tx2"/>
                </a:solidFill>
              </a:rPr>
              <a:t>Amplifier</a:t>
            </a:r>
            <a:endParaRPr lang="en-US" sz="1500" dirty="0"/>
          </a:p>
          <a:p>
            <a:pPr marL="0" indent="0" algn="ctr">
              <a:buNone/>
            </a:pPr>
            <a:r>
              <a:rPr lang="en-US" sz="1400" dirty="0">
                <a:solidFill>
                  <a:schemeClr val="tx2"/>
                </a:solidFill>
              </a:rPr>
              <a:t>×4.9</a:t>
            </a:r>
            <a:endParaRPr lang="en-US" sz="1500" dirty="0"/>
          </a:p>
        </p:txBody>
      </p:sp>
      <p:sp>
        <p:nvSpPr>
          <p:cNvPr id="5" name="Flecha 0"/>
          <p:cNvSpPr/>
          <p:nvPr/>
        </p:nvSpPr>
        <p:spPr>
          <a:xfrm>
            <a:off x="1911096" y="1892808"/>
            <a:ext cx="201168" cy="237744"/>
          </a:xfrm>
          <a:prstGeom prst="rightArrow">
            <a:avLst/>
          </a:prstGeom>
          <a:solidFill>
            <a:schemeClr val="accent3"/>
          </a:solidFill>
          <a:ln w="12700">
            <a:solidFill>
              <a:schemeClr val="accent3"/>
            </a:solidFill>
            <a:prstDash val="solid"/>
          </a:ln>
        </p:spPr>
        <p:txBody>
          <a:bodyPr/>
          <a:p/>
        </p:txBody>
      </p:sp>
      <p:sp>
        <p:nvSpPr>
          <p:cNvPr id="6" name="Bloque Rectificador"/>
          <p:cNvSpPr/>
          <p:nvPr/>
        </p:nvSpPr>
        <p:spPr>
          <a:xfrm>
            <a:off x="2148840" y="1463040"/>
            <a:ext cx="1417320" cy="1097280"/>
          </a:xfrm>
          <a:prstGeom prst="roundRect">
            <a:avLst>
              <a:gd name="adj" fmla="val 8333"/>
            </a:avLst>
          </a:prstGeom>
          <a:solidFill>
            <a:schemeClr val="accent1"/>
          </a:solidFill>
          <a:ln w="12700">
            <a:solidFill>
              <a:schemeClr val="accent1"/>
            </a:solidFill>
            <a:prstDash val="solid"/>
          </a:ln>
        </p:spPr>
        <p:txBody>
          <a:bodyPr/>
          <a:p/>
        </p:txBody>
      </p:sp>
      <p:sp>
        <p:nvSpPr>
          <p:cNvPr id="7" name="Text 5"/>
          <p:cNvSpPr txBox="1"/>
          <p:nvPr/>
        </p:nvSpPr>
        <p:spPr>
          <a:xfrm>
            <a:off x="214884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Rectifier</a:t>
            </a:r>
            <a:endParaRPr lang="en-US" sz="1500" dirty="0"/>
          </a:p>
          <a:p>
            <a:pPr marL="0" indent="0" algn="ctr">
              <a:buNone/>
            </a:pPr>
            <a:r>
              <a:rPr lang="en-US" sz="1400" dirty="0">
                <a:solidFill>
                  <a:schemeClr val="bg1"/>
                </a:solidFill>
              </a:rPr>
              <a:t>|Vg|</a:t>
            </a:r>
            <a:endParaRPr lang="en-US" sz="1500" dirty="0"/>
          </a:p>
        </p:txBody>
      </p:sp>
      <p:sp>
        <p:nvSpPr>
          <p:cNvPr id="8" name="Flecha 1"/>
          <p:cNvSpPr/>
          <p:nvPr/>
        </p:nvSpPr>
        <p:spPr>
          <a:xfrm>
            <a:off x="3602736" y="1892808"/>
            <a:ext cx="201168" cy="237744"/>
          </a:xfrm>
          <a:prstGeom prst="rightArrow">
            <a:avLst/>
          </a:prstGeom>
          <a:solidFill>
            <a:schemeClr val="accent3"/>
          </a:solidFill>
          <a:ln w="12700">
            <a:solidFill>
              <a:schemeClr val="accent3"/>
            </a:solidFill>
            <a:prstDash val="solid"/>
          </a:ln>
        </p:spPr>
        <p:txBody>
          <a:bodyPr/>
          <a:p/>
        </p:txBody>
      </p:sp>
      <p:sp>
        <p:nvSpPr>
          <p:cNvPr id="9" name="Bloque Detector de pico"/>
          <p:cNvSpPr/>
          <p:nvPr/>
        </p:nvSpPr>
        <p:spPr>
          <a:xfrm>
            <a:off x="3840480" y="1463040"/>
            <a:ext cx="1417320" cy="1097280"/>
          </a:xfrm>
          <a:prstGeom prst="roundRect">
            <a:avLst>
              <a:gd name="adj" fmla="val 8333"/>
            </a:avLst>
          </a:prstGeom>
          <a:solidFill>
            <a:schemeClr val="accent1"/>
          </a:solidFill>
          <a:ln w="12700">
            <a:solidFill>
              <a:schemeClr val="accent1"/>
            </a:solidFill>
            <a:prstDash val="solid"/>
          </a:ln>
        </p:spPr>
        <p:txBody>
          <a:bodyPr/>
          <a:p/>
        </p:txBody>
      </p:sp>
      <p:sp>
        <p:nvSpPr>
          <p:cNvPr id="10" name="Text 8"/>
          <p:cNvSpPr txBox="1"/>
          <p:nvPr/>
        </p:nvSpPr>
        <p:spPr>
          <a:xfrm>
            <a:off x="384048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Peak detector</a:t>
            </a:r>
            <a:endParaRPr lang="en-US" sz="1500" dirty="0"/>
          </a:p>
          <a:p>
            <a:pPr marL="0" indent="0" algn="ctr">
              <a:buNone/>
            </a:pPr>
            <a:r>
              <a:rPr lang="en-US" sz="1400" dirty="0">
                <a:solidFill>
                  <a:schemeClr val="bg1"/>
                </a:solidFill>
              </a:rPr>
              <a:t>τ = 100 ms</a:t>
            </a:r>
            <a:endParaRPr lang="en-US" sz="1500" dirty="0"/>
          </a:p>
        </p:txBody>
      </p:sp>
      <p:sp>
        <p:nvSpPr>
          <p:cNvPr id="11" name="Flecha 2"/>
          <p:cNvSpPr/>
          <p:nvPr/>
        </p:nvSpPr>
        <p:spPr>
          <a:xfrm>
            <a:off x="5294376" y="1892808"/>
            <a:ext cx="201168" cy="237744"/>
          </a:xfrm>
          <a:prstGeom prst="rightArrow">
            <a:avLst/>
          </a:prstGeom>
          <a:solidFill>
            <a:schemeClr val="accent3"/>
          </a:solidFill>
          <a:ln w="12700">
            <a:solidFill>
              <a:schemeClr val="accent3"/>
            </a:solidFill>
            <a:prstDash val="solid"/>
          </a:ln>
        </p:spPr>
        <p:txBody>
          <a:bodyPr/>
          <a:p/>
        </p:txBody>
      </p:sp>
      <p:sp>
        <p:nvSpPr>
          <p:cNvPr id="12" name="Bloque Schmitt"/>
          <p:cNvSpPr/>
          <p:nvPr/>
        </p:nvSpPr>
        <p:spPr>
          <a:xfrm>
            <a:off x="5532120" y="1463040"/>
            <a:ext cx="1417320" cy="1097280"/>
          </a:xfrm>
          <a:prstGeom prst="roundRect">
            <a:avLst>
              <a:gd name="adj" fmla="val 8333"/>
            </a:avLst>
          </a:prstGeom>
          <a:solidFill>
            <a:schemeClr val="accent1"/>
          </a:solidFill>
          <a:ln w="12700">
            <a:solidFill>
              <a:schemeClr val="accent1"/>
            </a:solidFill>
            <a:prstDash val="solid"/>
          </a:ln>
        </p:spPr>
        <p:txBody>
          <a:bodyPr/>
          <a:p/>
        </p:txBody>
      </p:sp>
      <p:sp>
        <p:nvSpPr>
          <p:cNvPr id="13" name="Text 11"/>
          <p:cNvSpPr txBox="1"/>
          <p:nvPr/>
        </p:nvSpPr>
        <p:spPr>
          <a:xfrm>
            <a:off x="553212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Schmitt</a:t>
            </a:r>
            <a:endParaRPr lang="en-US" sz="1500" dirty="0"/>
          </a:p>
          <a:p>
            <a:pPr marL="0" indent="0" algn="ctr">
              <a:buNone/>
            </a:pPr>
            <a:r>
              <a:rPr lang="en-US" sz="1400" dirty="0">
                <a:solidFill>
                  <a:schemeClr val="bg1"/>
                </a:solidFill>
              </a:rPr>
              <a:t>1.01 / 0.52 V</a:t>
            </a:r>
            <a:endParaRPr lang="en-US" sz="1500" dirty="0"/>
          </a:p>
        </p:txBody>
      </p:sp>
      <p:sp>
        <p:nvSpPr>
          <p:cNvPr id="14" name="Flecha 3"/>
          <p:cNvSpPr/>
          <p:nvPr/>
        </p:nvSpPr>
        <p:spPr>
          <a:xfrm>
            <a:off x="6986016" y="1892808"/>
            <a:ext cx="201168" cy="237744"/>
          </a:xfrm>
          <a:prstGeom prst="rightArrow">
            <a:avLst/>
          </a:prstGeom>
          <a:solidFill>
            <a:schemeClr val="accent3"/>
          </a:solidFill>
          <a:ln w="12700">
            <a:solidFill>
              <a:schemeClr val="accent3"/>
            </a:solidFill>
            <a:prstDash val="solid"/>
          </a:ln>
        </p:spPr>
        <p:txBody>
          <a:bodyPr/>
          <a:p/>
        </p:txBody>
      </p:sp>
      <p:sp>
        <p:nvSpPr>
          <p:cNvPr id="15" name="Bloque LED"/>
          <p:cNvSpPr/>
          <p:nvPr/>
        </p:nvSpPr>
        <p:spPr>
          <a:xfrm>
            <a:off x="7223760" y="1463040"/>
            <a:ext cx="1417320" cy="1097280"/>
          </a:xfrm>
          <a:prstGeom prst="roundRect">
            <a:avLst>
              <a:gd name="adj" fmla="val 8333"/>
            </a:avLst>
          </a:prstGeom>
          <a:solidFill>
            <a:schemeClr val="bg2"/>
          </a:solidFill>
          <a:ln w="12700">
            <a:solidFill>
              <a:schemeClr val="accent1"/>
            </a:solidFill>
            <a:prstDash val="solid"/>
          </a:ln>
        </p:spPr>
        <p:txBody>
          <a:bodyPr/>
          <a:p/>
        </p:txBody>
      </p:sp>
      <p:sp>
        <p:nvSpPr>
          <p:cNvPr id="16" name="Text 14"/>
          <p:cNvSpPr txBox="1"/>
          <p:nvPr/>
        </p:nvSpPr>
        <p:spPr>
          <a:xfrm>
            <a:off x="722376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tx2"/>
                </a:solidFill>
              </a:rPr>
              <a:t>LED</a:t>
            </a:r>
            <a:endParaRPr lang="en-US" sz="1500" dirty="0"/>
          </a:p>
          <a:p>
            <a:pPr marL="0" indent="0" algn="ctr">
              <a:buNone/>
            </a:pPr>
            <a:r>
              <a:rPr lang="en-US" sz="1400" dirty="0">
                <a:solidFill>
                  <a:schemeClr val="tx2"/>
                </a:solidFill>
              </a:rPr>
              <a:t>output</a:t>
            </a:r>
            <a:endParaRPr lang="en-US" sz="1500" dirty="0"/>
          </a:p>
        </p:txBody>
      </p:sp>
      <p:sp>
        <p:nvSpPr>
          <p:cNvPr id="17" name="Text 15"/>
          <p:cNvSpPr txBox="1"/>
          <p:nvPr/>
        </p:nvSpPr>
        <p:spPr>
          <a:xfrm>
            <a:off x="2148840" y="2651760"/>
            <a:ext cx="4800600" cy="320040"/>
          </a:xfrm>
          <a:prstGeom prst="rect">
            <a:avLst/>
          </a:prstGeom>
          <a:noFill/>
          <a:ln/>
        </p:spPr>
        <p:txBody>
          <a:bodyPr wrap="square" lIns="0" tIns="0" rIns="0" bIns="0" rtlCol="0" anchor="ctr"/>
          <a:lstStyle/>
          <a:p>
            <a:pPr marL="0" indent="0" algn="ctr">
              <a:buNone/>
            </a:pPr>
            <a:r>
              <a:rPr lang="en-US" sz="1300" i="1" dirty="0">
                <a:solidFill>
                  <a:schemeClr val="accent1"/>
                </a:solidFill>
              </a:rPr>
              <a:t>Nonlinear blocks</a:t>
            </a:r>
            <a:endParaRPr lang="en-US" sz="1300" dirty="0"/>
          </a:p>
        </p:txBody>
      </p:sp>
      <p:sp>
        <p:nvSpPr>
          <p:cNvPr id="18" name="Tarjeta Por qué no basta un circuito lineal"/>
          <p:cNvSpPr/>
          <p:nvPr/>
        </p:nvSpPr>
        <p:spPr>
          <a:xfrm>
            <a:off x="317921" y="3200400"/>
            <a:ext cx="8229600" cy="1508760"/>
          </a:xfrm>
          <a:prstGeom prst="roundRect">
            <a:avLst>
              <a:gd name="adj" fmla="val 6400"/>
            </a:avLst>
          </a:prstGeom>
          <a:solidFill>
            <a:schemeClr val="bg2"/>
          </a:solidFill>
          <a:ln w="12700">
            <a:solidFill>
              <a:schemeClr val="bg2"/>
            </a:solidFill>
            <a:prstDash val="solid"/>
          </a:ln>
        </p:spPr>
        <p:txBody>
          <a:bodyPr/>
          <a:p/>
        </p:txBody>
      </p:sp>
      <p:sp>
        <p:nvSpPr>
          <p:cNvPr id="19" name="Text 17"/>
          <p:cNvSpPr txBox="1"/>
          <p:nvPr/>
        </p:nvSpPr>
        <p:spPr>
          <a:xfrm>
            <a:off x="640080" y="3383280"/>
            <a:ext cx="7863840" cy="8686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Why a linear circuit is not enough</a:t>
            </a:r>
            <a:endParaRPr lang="en-US" sz="1600" dirty="0"/>
          </a:p>
          <a:p>
            <a:pPr marL="342900" indent="-342900">
              <a:spcAft>
                <a:spcPts val="600"/>
              </a:spcAft>
              <a:buSzPct val="100000"/>
              <a:buChar char="•"/>
            </a:pPr>
            <a:r>
              <a:rPr lang="en-US" sz="1500" dirty="0">
                <a:solidFill>
                  <a:schemeClr val="tx1"/>
                </a:solidFill>
              </a:rPr>
              <a:t>The R wave can be positive or negative → rectify</a:t>
            </a:r>
            <a:endParaRPr lang="en-US" sz="1600" dirty="0"/>
          </a:p>
          <a:p>
            <a:pPr marL="342900" indent="-342900">
              <a:spcAft>
                <a:spcPts val="600"/>
              </a:spcAft>
              <a:buSzPct val="100000"/>
              <a:buChar char="•"/>
            </a:pPr>
            <a:r>
              <a:rPr lang="en-US" sz="1500" dirty="0">
                <a:solidFill>
                  <a:schemeClr val="tx1"/>
                </a:solidFill>
              </a:rPr>
              <a:t>The QRS has several lobes → merge them </a:t>
            </a:r>
            <a:r>
              <a:rPr lang="en-US" sz="1500" dirty="0" err="1">
                <a:solidFill>
                  <a:schemeClr val="tx1"/>
                </a:solidFill>
              </a:rPr>
              <a:t>into</a:t>
            </a:r>
            <a:r>
              <a:rPr lang="en-US" sz="1500" dirty="0">
                <a:solidFill>
                  <a:schemeClr val="tx1"/>
                </a:solidFill>
              </a:rPr>
              <a:t> one</a:t>
            </a:r>
          </a:p>
          <a:p>
            <a:pPr marL="342900" indent="-342900">
              <a:spcAft>
                <a:spcPts val="600"/>
              </a:spcAft>
              <a:buSzPct val="100000"/>
              <a:buChar char="•"/>
            </a:pPr>
            <a:r>
              <a:rPr lang="en-US" sz="1500" dirty="0" err="1"/>
              <a:t>Design</a:t>
            </a:r>
            <a:r>
              <a:rPr lang="en-US" sz="1500" dirty="0"/>
              <a:t> </a:t>
            </a:r>
            <a:r>
              <a:rPr lang="en-US" sz="1500" dirty="0" err="1"/>
              <a:t>limits</a:t>
            </a:r>
            <a:r>
              <a:rPr lang="en-US" sz="1500" dirty="0"/>
              <a:t>: 0.5 to 2 Vpp</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Full circuit: 6 op-amps at ±12 V</a:t>
            </a:r>
            <a:endParaRPr lang="en-US" sz="3000" dirty="0"/>
          </a:p>
        </p:txBody>
      </p:sp>
      <p:pic>
        <p:nvPicPr>
          <p:cNvPr id="3" name="Esquema Proteus" descr="/home/claude/informe_latex/figuras/proteus_esquema.png"/>
          <p:cNvPicPr>
            <a:picLocks noChangeAspect="1"/>
          </p:cNvPicPr>
          <p:nvPr/>
        </p:nvPicPr>
        <p:blipFill>
          <a:blip r:embed="rId3"/>
          <a:stretch>
            <a:fillRect/>
          </a:stretch>
        </p:blipFill>
        <p:spPr>
          <a:xfrm>
            <a:off x="747938" y="1005840"/>
            <a:ext cx="7648124" cy="3657600"/>
          </a:xfrm>
          <a:prstGeom prst="rect">
            <a:avLst/>
          </a:prstGeom>
        </p:spPr>
      </p:pic>
      <p:sp>
        <p:nvSpPr>
          <p:cNvPr id="4" name="Text 1"/>
          <p:cNvSpPr txBox="1"/>
          <p:nvPr/>
        </p:nvSpPr>
        <p:spPr>
          <a:xfrm>
            <a:off x="457200" y="4709160"/>
            <a:ext cx="5486400" cy="274320"/>
          </a:xfrm>
          <a:prstGeom prst="rect">
            <a:avLst/>
          </a:prstGeom>
          <a:noFill/>
          <a:ln/>
        </p:spPr>
        <p:txBody>
          <a:bodyPr wrap="square" lIns="0" tIns="0" rIns="0" bIns="0" rtlCol="0" anchor="ctr"/>
          <a:lstStyle/>
          <a:p>
            <a:pPr marL="0" indent="0">
              <a:buNone/>
            </a:pPr>
            <a:r>
              <a:rPr lang="en-US" sz="1100" dirty="0">
                <a:solidFill>
                  <a:schemeClr val="accent3"/>
                </a:solidFill>
              </a:rPr>
              <a:t>Simulated in Proteus with LM741</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Stage 1 · Non-inverting amplifier</a:t>
            </a:r>
            <a:endParaRPr lang="en-US" sz="3000" dirty="0"/>
          </a:p>
        </p:txBody>
      </p:sp>
      <p:sp>
        <p:nvSpPr>
          <p:cNvPr id="3" name="Etapa 1"/>
          <p:cNvSpPr/>
          <p:nvPr/>
        </p:nvSpPr>
        <p:spPr>
          <a:xfrm>
            <a:off x="8229600" y="365760"/>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pic>
        <p:nvPicPr>
          <p:cNvPr id="5" name="Cálculo amplificador" descr="/home/claude/informe_latex/figuras/calc_amplificador.png"/>
          <p:cNvPicPr>
            <a:picLocks noChangeAspect="1"/>
          </p:cNvPicPr>
          <p:nvPr/>
        </p:nvPicPr>
        <p:blipFill>
          <a:blip r:embed="rId3"/>
          <a:stretch>
            <a:fillRect/>
          </a:stretch>
        </p:blipFill>
        <p:spPr>
          <a:xfrm>
            <a:off x="405150" y="1051560"/>
            <a:ext cx="5041861" cy="3840480"/>
          </a:xfrm>
          <a:prstGeom prst="rect">
            <a:avLst/>
          </a:prstGeom>
        </p:spPr>
      </p:pic>
      <p:sp>
        <p:nvSpPr>
          <p:cNvPr id="6" name="Tarjeta Lo esencial"/>
          <p:cNvSpPr/>
          <p:nvPr/>
        </p:nvSpPr>
        <p:spPr>
          <a:xfrm>
            <a:off x="5760720" y="1051560"/>
            <a:ext cx="2926080" cy="2240280"/>
          </a:xfrm>
          <a:prstGeom prst="roundRect">
            <a:avLst>
              <a:gd name="adj" fmla="val 3265"/>
            </a:avLst>
          </a:prstGeom>
          <a:solidFill>
            <a:schemeClr val="bg2"/>
          </a:solidFill>
          <a:ln w="12700">
            <a:solidFill>
              <a:schemeClr val="bg2"/>
            </a:solidFill>
            <a:prstDash val="solid"/>
          </a:ln>
        </p:spPr>
        <p:txBody>
          <a:bodyPr/>
          <a:p/>
        </p:txBody>
      </p:sp>
      <p:sp>
        <p:nvSpPr>
          <p:cNvPr id="7" name="Text 4"/>
          <p:cNvSpPr txBox="1"/>
          <p:nvPr/>
        </p:nvSpPr>
        <p:spPr>
          <a:xfrm>
            <a:off x="5943600" y="1188720"/>
            <a:ext cx="2560320" cy="196596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Key points</a:t>
            </a:r>
            <a:endParaRPr lang="en-US" sz="1600" dirty="0"/>
          </a:p>
          <a:p>
            <a:pPr marL="342900" indent="-342900">
              <a:spcAft>
                <a:spcPts val="600"/>
              </a:spcAft>
              <a:buSzPct val="100000"/>
              <a:buChar char="•"/>
            </a:pPr>
            <a:r>
              <a:rPr lang="en-US" sz="1500" dirty="0">
                <a:solidFill>
                  <a:schemeClr val="tx1"/>
                </a:solidFill>
              </a:rPr>
              <a:t>Vg = Vin (1 + Rf1/Rg1)</a:t>
            </a:r>
            <a:endParaRPr lang="en-US" sz="1600" dirty="0"/>
          </a:p>
          <a:p>
            <a:pPr marL="342900" indent="-342900">
              <a:spcAft>
                <a:spcPts val="600"/>
              </a:spcAft>
              <a:buSzPct val="100000"/>
              <a:buChar char="•"/>
            </a:pPr>
            <a:r>
              <a:rPr lang="en-US" sz="1500" dirty="0">
                <a:solidFill>
                  <a:schemeClr val="tx1"/>
                </a:solidFill>
              </a:rPr>
              <a:t>Av = 4.9</a:t>
            </a:r>
            <a:endParaRPr lang="en-US" sz="1600" dirty="0"/>
          </a:p>
          <a:p>
            <a:pPr marL="342900" indent="-342900">
              <a:spcAft>
                <a:spcPts val="600"/>
              </a:spcAft>
              <a:buSzPct val="100000"/>
              <a:buChar char="•"/>
            </a:pPr>
            <a:r>
              <a:rPr lang="en-US" sz="1500" dirty="0">
                <a:solidFill>
                  <a:schemeClr val="tx1"/>
                </a:solidFill>
              </a:rPr>
              <a:t>Rg1 = 10 kΩ → Rf1 = 39 kΩ</a:t>
            </a:r>
            <a:endParaRPr lang="en-US" sz="1600" dirty="0"/>
          </a:p>
          <a:p>
            <a:pPr marL="342900" indent="-342900">
              <a:spcAft>
                <a:spcPts val="600"/>
              </a:spcAft>
              <a:buSzPct val="100000"/>
              <a:buChar char="•"/>
            </a:pPr>
            <a:r>
              <a:rPr lang="en-US" sz="1500" dirty="0">
                <a:solidFill>
                  <a:schemeClr val="tx1"/>
                </a:solidFill>
              </a:rPr>
              <a:t>0.5–2 Vpp → 2.45–9.8 V</a:t>
            </a:r>
            <a:endParaRPr lang="en-US" sz="1600" dirty="0"/>
          </a:p>
        </p:txBody>
      </p:sp>
      <p:sp>
        <p:nvSpPr>
          <p:cNvPr id="8" name="Text 5"/>
          <p:cNvSpPr txBox="1"/>
          <p:nvPr/>
        </p:nvSpPr>
        <p:spPr>
          <a:xfrm>
            <a:off x="5760720" y="3611880"/>
            <a:ext cx="2926080" cy="685800"/>
          </a:xfrm>
          <a:prstGeom prst="rect">
            <a:avLst/>
          </a:prstGeom>
          <a:noFill/>
          <a:ln/>
        </p:spPr>
        <p:txBody>
          <a:bodyPr wrap="square" lIns="0" tIns="0" rIns="0" bIns="0" rtlCol="0" anchor="ctr"/>
          <a:lstStyle/>
          <a:p>
            <a:pPr marL="0" indent="0">
              <a:buNone/>
            </a:pPr>
            <a:r>
              <a:rPr lang="en-US" sz="3600" b="1" dirty="0">
                <a:solidFill>
                  <a:schemeClr val="accent1"/>
                </a:solidFill>
              </a:rPr>
              <a:t>Av = 4.9</a:t>
            </a:r>
            <a:endParaRPr lang="en-US" sz="3600" dirty="0"/>
          </a:p>
        </p:txBody>
      </p:sp>
      <p:sp>
        <p:nvSpPr>
          <p:cNvPr id="9" name="Text 6"/>
          <p:cNvSpPr txBox="1"/>
          <p:nvPr/>
        </p:nvSpPr>
        <p:spPr>
          <a:xfrm>
            <a:off x="5760720" y="4297680"/>
            <a:ext cx="2926080" cy="411480"/>
          </a:xfrm>
          <a:prstGeom prst="rect">
            <a:avLst/>
          </a:prstGeom>
          <a:noFill/>
          <a:ln/>
        </p:spPr>
        <p:txBody>
          <a:bodyPr wrap="square" lIns="0" tIns="0" rIns="0" bIns="0" rtlCol="0" anchor="t"/>
          <a:lstStyle/>
          <a:p>
            <a:pPr marL="0" indent="0">
              <a:buNone/>
            </a:pPr>
            <a:r>
              <a:rPr lang="en-US" sz="1300" dirty="0">
                <a:solidFill>
                  <a:schemeClr val="accent3"/>
                </a:solidFill>
              </a:rPr>
              <a:t>valid range: 4.04 to 5.25</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Comfrobucen max.&#10;&#10;El contenido generado por IA puede ser incorrecto.">
            <a:extLst>
              <a:ext uri="{FF2B5EF4-FFF2-40B4-BE49-F238E27FC236}">
                <a16:creationId xmlns:a16="http://schemas.microsoft.com/office/drawing/2014/main" id="{D42830C2-ACDF-8EE2-8B38-E57E10170BED}"/>
              </a:ext>
            </a:extLst>
          </p:cNvPr>
          <p:cNvPicPr>
            <a:picLocks noChangeAspect="1"/>
          </p:cNvPicPr>
          <p:nvPr/>
        </p:nvPicPr>
        <p:blipFill>
          <a:blip r:embed="rId2"/>
          <a:stretch>
            <a:fillRect/>
          </a:stretch>
        </p:blipFill>
        <p:spPr>
          <a:xfrm>
            <a:off x="2532682" y="0"/>
            <a:ext cx="4078635" cy="5143500"/>
          </a:xfrm>
          <a:prstGeom prst="rect">
            <a:avLst/>
          </a:prstGeom>
        </p:spPr>
      </p:pic>
    </p:spTree>
    <p:extLst>
      <p:ext uri="{BB962C8B-B14F-4D97-AF65-F5344CB8AC3E}">
        <p14:creationId xmlns:p14="http://schemas.microsoft.com/office/powerpoint/2010/main" val="288064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Stage 2 · Precision rectifier</a:t>
            </a:r>
            <a:endParaRPr lang="en-US" sz="3000" dirty="0"/>
          </a:p>
        </p:txBody>
      </p:sp>
      <p:sp>
        <p:nvSpPr>
          <p:cNvPr id="3" name="Etapa 2"/>
          <p:cNvSpPr/>
          <p:nvPr/>
        </p:nvSpPr>
        <p:spPr>
          <a:xfrm>
            <a:off x="8229600" y="365760"/>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pic>
        <p:nvPicPr>
          <p:cNvPr id="5" name="Cálculo media onda" descr="/home/claude/informe_latex/figuras/calc_rectificador.png"/>
          <p:cNvPicPr>
            <a:picLocks noChangeAspect="1"/>
          </p:cNvPicPr>
          <p:nvPr/>
        </p:nvPicPr>
        <p:blipFill>
          <a:blip r:embed="rId3"/>
          <a:stretch>
            <a:fillRect/>
          </a:stretch>
        </p:blipFill>
        <p:spPr>
          <a:xfrm>
            <a:off x="1750901" y="769254"/>
            <a:ext cx="5642198" cy="2979786"/>
          </a:xfrm>
          <a:prstGeom prst="rect">
            <a:avLst/>
          </a:prstGeom>
        </p:spPr>
      </p:pic>
      <p:sp>
        <p:nvSpPr>
          <p:cNvPr id="6" name="Caso Vg &gt; 0"/>
          <p:cNvSpPr/>
          <p:nvPr/>
        </p:nvSpPr>
        <p:spPr>
          <a:xfrm>
            <a:off x="457200" y="3931920"/>
            <a:ext cx="2606040" cy="868680"/>
          </a:xfrm>
          <a:prstGeom prst="roundRect">
            <a:avLst>
              <a:gd name="adj" fmla="val 8421"/>
            </a:avLst>
          </a:prstGeom>
          <a:solidFill>
            <a:schemeClr val="bg2"/>
          </a:solidFill>
          <a:ln w="12700">
            <a:solidFill>
              <a:schemeClr val="bg2"/>
            </a:solidFill>
            <a:prstDash val="solid"/>
          </a:ln>
        </p:spPr>
        <p:txBody>
          <a:bodyPr/>
          <a:p/>
        </p:txBody>
      </p:sp>
      <p:sp>
        <p:nvSpPr>
          <p:cNvPr id="7" name="Text 4"/>
          <p:cNvSpPr txBox="1"/>
          <p:nvPr/>
        </p:nvSpPr>
        <p:spPr>
          <a:xfrm>
            <a:off x="594360"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Vg &gt; 0</a:t>
            </a:r>
            <a:endParaRPr lang="en-US" sz="1600" dirty="0"/>
          </a:p>
          <a:p>
            <a:pPr marL="0" indent="0">
              <a:buNone/>
            </a:pPr>
            <a:r>
              <a:rPr lang="en-US" sz="1400" dirty="0">
                <a:solidFill>
                  <a:schemeClr val="tx1"/>
                </a:solidFill>
              </a:rPr>
              <a:t>D2 conducts · Vhw = −Vg</a:t>
            </a:r>
            <a:endParaRPr lang="en-US" sz="1600" dirty="0"/>
          </a:p>
        </p:txBody>
      </p:sp>
      <p:sp>
        <p:nvSpPr>
          <p:cNvPr id="8" name="Caso Vg &lt; 0"/>
          <p:cNvSpPr/>
          <p:nvPr/>
        </p:nvSpPr>
        <p:spPr>
          <a:xfrm>
            <a:off x="3355848" y="3931920"/>
            <a:ext cx="2606040" cy="868680"/>
          </a:xfrm>
          <a:prstGeom prst="roundRect">
            <a:avLst>
              <a:gd name="adj" fmla="val 8421"/>
            </a:avLst>
          </a:prstGeom>
          <a:solidFill>
            <a:schemeClr val="bg2"/>
          </a:solidFill>
          <a:ln w="12700">
            <a:solidFill>
              <a:schemeClr val="bg2"/>
            </a:solidFill>
            <a:prstDash val="solid"/>
          </a:ln>
        </p:spPr>
        <p:txBody>
          <a:bodyPr/>
          <a:p/>
        </p:txBody>
      </p:sp>
      <p:sp>
        <p:nvSpPr>
          <p:cNvPr id="9" name="Text 6"/>
          <p:cNvSpPr txBox="1"/>
          <p:nvPr/>
        </p:nvSpPr>
        <p:spPr>
          <a:xfrm>
            <a:off x="3493008"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Vg &lt; 0</a:t>
            </a:r>
            <a:endParaRPr lang="en-US" sz="1600" dirty="0"/>
          </a:p>
          <a:p>
            <a:pPr marL="0" indent="0">
              <a:buNone/>
            </a:pPr>
            <a:r>
              <a:rPr lang="en-US" sz="1400" dirty="0">
                <a:solidFill>
                  <a:schemeClr val="tx1"/>
                </a:solidFill>
              </a:rPr>
              <a:t>D1 conducts · Vhw = 0</a:t>
            </a:r>
            <a:endParaRPr lang="en-US" sz="1600" dirty="0"/>
          </a:p>
        </p:txBody>
      </p:sp>
      <p:sp>
        <p:nvSpPr>
          <p:cNvPr id="10" name="Caso Precisión"/>
          <p:cNvSpPr/>
          <p:nvPr/>
        </p:nvSpPr>
        <p:spPr>
          <a:xfrm>
            <a:off x="6254496" y="3931920"/>
            <a:ext cx="2606040" cy="868680"/>
          </a:xfrm>
          <a:prstGeom prst="roundRect">
            <a:avLst>
              <a:gd name="adj" fmla="val 8421"/>
            </a:avLst>
          </a:prstGeom>
          <a:solidFill>
            <a:schemeClr val="bg2"/>
          </a:solidFill>
          <a:ln w="12700">
            <a:solidFill>
              <a:schemeClr val="bg2"/>
            </a:solidFill>
            <a:prstDash val="solid"/>
          </a:ln>
        </p:spPr>
        <p:txBody>
          <a:bodyPr/>
          <a:p/>
        </p:txBody>
      </p:sp>
      <p:sp>
        <p:nvSpPr>
          <p:cNvPr id="11" name="Text 8"/>
          <p:cNvSpPr txBox="1"/>
          <p:nvPr/>
        </p:nvSpPr>
        <p:spPr>
          <a:xfrm>
            <a:off x="6391656"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Precision</a:t>
            </a:r>
            <a:endParaRPr lang="en-US" sz="1600" dirty="0"/>
          </a:p>
          <a:p>
            <a:pPr marL="0" indent="0">
              <a:buNone/>
            </a:pPr>
            <a:r>
              <a:rPr lang="en-US" sz="1400" dirty="0">
                <a:solidFill>
                  <a:schemeClr val="tx1"/>
                </a:solidFill>
              </a:rPr>
              <a:t>Dead zone ≈ 3 µV</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circuit diagram with components labeled, including a ZA (presumably a variable resistor or component), voltage values, and a series of equations or measurements related to the circuit.&#10;&#10;El contenido generado por IA puede ser incorrecto.">
            <a:extLst>
              <a:ext uri="{FF2B5EF4-FFF2-40B4-BE49-F238E27FC236}">
                <a16:creationId xmlns:a16="http://schemas.microsoft.com/office/drawing/2014/main" id="{3C3DE73B-5038-DBC4-2F65-7626EBBDDA04}"/>
              </a:ext>
            </a:extLst>
          </p:cNvPr>
          <p:cNvPicPr>
            <a:picLocks noChangeAspect="1"/>
          </p:cNvPicPr>
          <p:nvPr/>
        </p:nvPicPr>
        <p:blipFill>
          <a:blip r:embed="rId2"/>
          <a:stretch>
            <a:fillRect/>
          </a:stretch>
        </p:blipFill>
        <p:spPr>
          <a:xfrm>
            <a:off x="639713" y="0"/>
            <a:ext cx="5127427" cy="5143500"/>
          </a:xfrm>
          <a:prstGeom prst="rect">
            <a:avLst/>
          </a:prstGeom>
        </p:spPr>
      </p:pic>
      <p:sp>
        <p:nvSpPr>
          <p:cNvPr id="5" name="CuadroTexto 4">
            <a:extLst>
              <a:ext uri="{FF2B5EF4-FFF2-40B4-BE49-F238E27FC236}">
                <a16:creationId xmlns:a16="http://schemas.microsoft.com/office/drawing/2014/main" id="{215BFFDB-37D3-27B9-DB2E-038C7E999E7A}"/>
              </a:ext>
            </a:extLst>
          </p:cNvPr>
          <p:cNvSpPr txBox="1"/>
          <p:nvPr/>
        </p:nvSpPr>
        <p:spPr>
          <a:xfrm>
            <a:off x="5867905" y="775121"/>
            <a:ext cx="2912757" cy="369332"/>
          </a:xfrm>
          <a:prstGeom prst="rect">
            <a:avLst/>
          </a:prstGeom>
          <a:noFill/>
        </p:spPr>
        <p:txBody>
          <a:bodyPr wrap="square" rtlCol="0">
            <a:spAutoFit/>
          </a:bodyPr>
          <a:lstStyle/>
          <a:p>
            <a:r>
              <a:rPr lang="es-ES" dirty="0"/>
              <a:t>Case 1, </a:t>
            </a:r>
            <a:r>
              <a:rPr lang="es-ES" dirty="0" err="1"/>
              <a:t>Vg</a:t>
            </a:r>
            <a:r>
              <a:rPr lang="es-ES" dirty="0"/>
              <a:t> +</a:t>
            </a:r>
            <a:endParaRPr lang="es-CO" dirty="0"/>
          </a:p>
        </p:txBody>
      </p:sp>
    </p:spTree>
    <p:extLst>
      <p:ext uri="{BB962C8B-B14F-4D97-AF65-F5344CB8AC3E}">
        <p14:creationId xmlns:p14="http://schemas.microsoft.com/office/powerpoint/2010/main" val="2038695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appears to be a circuit diagram with various electronic components and annotations, including symbols for resistors, capacitors, and voltage sources, as well as some handwritten notes and calculations.&#10;&#10;El contenido generado por IA puede ser incorrecto.">
            <a:extLst>
              <a:ext uri="{FF2B5EF4-FFF2-40B4-BE49-F238E27FC236}">
                <a16:creationId xmlns:a16="http://schemas.microsoft.com/office/drawing/2014/main" id="{B0573F9A-3EA5-F4A3-AFB3-DC76D6131D7A}"/>
              </a:ext>
            </a:extLst>
          </p:cNvPr>
          <p:cNvPicPr>
            <a:picLocks noChangeAspect="1"/>
          </p:cNvPicPr>
          <p:nvPr/>
        </p:nvPicPr>
        <p:blipFill>
          <a:blip r:embed="rId2"/>
          <a:stretch>
            <a:fillRect/>
          </a:stretch>
        </p:blipFill>
        <p:spPr>
          <a:xfrm>
            <a:off x="626964" y="0"/>
            <a:ext cx="5710043" cy="5143500"/>
          </a:xfrm>
          <a:prstGeom prst="rect">
            <a:avLst/>
          </a:prstGeom>
        </p:spPr>
      </p:pic>
      <p:sp>
        <p:nvSpPr>
          <p:cNvPr id="6" name="CuadroTexto 5">
            <a:extLst>
              <a:ext uri="{FF2B5EF4-FFF2-40B4-BE49-F238E27FC236}">
                <a16:creationId xmlns:a16="http://schemas.microsoft.com/office/drawing/2014/main" id="{4988E701-9124-C46B-96BB-B749A3706660}"/>
              </a:ext>
            </a:extLst>
          </p:cNvPr>
          <p:cNvSpPr txBox="1"/>
          <p:nvPr/>
        </p:nvSpPr>
        <p:spPr>
          <a:xfrm>
            <a:off x="6600636" y="775121"/>
            <a:ext cx="2912757" cy="369332"/>
          </a:xfrm>
          <a:prstGeom prst="rect">
            <a:avLst/>
          </a:prstGeom>
          <a:noFill/>
        </p:spPr>
        <p:txBody>
          <a:bodyPr wrap="square" rtlCol="0">
            <a:spAutoFit/>
          </a:bodyPr>
          <a:lstStyle/>
          <a:p>
            <a:r>
              <a:rPr lang="es-ES" dirty="0"/>
              <a:t>Case 2, </a:t>
            </a:r>
            <a:r>
              <a:rPr lang="es-ES" dirty="0" err="1"/>
              <a:t>Vg</a:t>
            </a:r>
            <a:r>
              <a:rPr lang="es-ES" dirty="0"/>
              <a:t> -</a:t>
            </a:r>
            <a:endParaRPr lang="es-CO" dirty="0"/>
          </a:p>
        </p:txBody>
      </p:sp>
    </p:spTree>
    <p:extLst>
      <p:ext uri="{BB962C8B-B14F-4D97-AF65-F5344CB8AC3E}">
        <p14:creationId xmlns:p14="http://schemas.microsoft.com/office/powerpoint/2010/main" val="255520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Stage 2 · Summer: from half-wave to |Vg|</a:t>
            </a:r>
            <a:endParaRPr lang="en-US" sz="3000" dirty="0"/>
          </a:p>
        </p:txBody>
      </p:sp>
      <p:sp>
        <p:nvSpPr>
          <p:cNvPr id="3" name="Etapa 2"/>
          <p:cNvSpPr/>
          <p:nvPr/>
        </p:nvSpPr>
        <p:spPr>
          <a:xfrm>
            <a:off x="8229600" y="365760"/>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pic>
        <p:nvPicPr>
          <p:cNvPr id="5" name="Cálculo sumador" descr="/home/claude/informe_latex/figuras/calc_sumador.png"/>
          <p:cNvPicPr>
            <a:picLocks noChangeAspect="1"/>
          </p:cNvPicPr>
          <p:nvPr/>
        </p:nvPicPr>
        <p:blipFill>
          <a:blip r:embed="rId3"/>
          <a:stretch>
            <a:fillRect/>
          </a:stretch>
        </p:blipFill>
        <p:spPr>
          <a:xfrm>
            <a:off x="410310" y="1051560"/>
            <a:ext cx="5031540" cy="3840480"/>
          </a:xfrm>
          <a:prstGeom prst="rect">
            <a:avLst/>
          </a:prstGeom>
        </p:spPr>
      </p:pic>
      <p:sp>
        <p:nvSpPr>
          <p:cNvPr id="6" name="Tarjeta Lo esencial"/>
          <p:cNvSpPr/>
          <p:nvPr/>
        </p:nvSpPr>
        <p:spPr>
          <a:xfrm>
            <a:off x="5760720" y="1051560"/>
            <a:ext cx="2926080" cy="2240280"/>
          </a:xfrm>
          <a:prstGeom prst="roundRect">
            <a:avLst>
              <a:gd name="adj" fmla="val 3265"/>
            </a:avLst>
          </a:prstGeom>
          <a:solidFill>
            <a:schemeClr val="bg2"/>
          </a:solidFill>
          <a:ln w="12700">
            <a:solidFill>
              <a:schemeClr val="bg2"/>
            </a:solidFill>
            <a:prstDash val="solid"/>
          </a:ln>
        </p:spPr>
        <p:txBody>
          <a:bodyPr/>
          <a:p/>
        </p:txBody>
      </p:sp>
      <p:sp>
        <p:nvSpPr>
          <p:cNvPr id="7" name="Text 4"/>
          <p:cNvSpPr txBox="1"/>
          <p:nvPr/>
        </p:nvSpPr>
        <p:spPr>
          <a:xfrm>
            <a:off x="5943600" y="1188720"/>
            <a:ext cx="2560320" cy="196596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Key points</a:t>
            </a:r>
            <a:endParaRPr lang="en-US" sz="1600" dirty="0"/>
          </a:p>
          <a:p>
            <a:pPr marL="342900" indent="-342900">
              <a:spcAft>
                <a:spcPts val="600"/>
              </a:spcAft>
              <a:buSzPct val="100000"/>
              <a:buChar char="•"/>
            </a:pPr>
            <a:r>
              <a:rPr lang="en-US" sz="1500" dirty="0">
                <a:solidFill>
                  <a:schemeClr val="tx1"/>
                </a:solidFill>
              </a:rPr>
              <a:t>Vr = −(Vg + 2·Vhw)</a:t>
            </a:r>
            <a:endParaRPr lang="en-US" sz="1600" dirty="0"/>
          </a:p>
          <a:p>
            <a:pPr marL="342900" indent="-342900">
              <a:spcAft>
                <a:spcPts val="600"/>
              </a:spcAft>
              <a:buSzPct val="100000"/>
              <a:buChar char="•"/>
            </a:pPr>
            <a:r>
              <a:rPr lang="en-US" sz="1500" dirty="0">
                <a:solidFill>
                  <a:schemeClr val="tx1"/>
                </a:solidFill>
              </a:rPr>
              <a:t>R6 = R4 = 20 kΩ</a:t>
            </a:r>
            <a:endParaRPr lang="en-US" sz="1600" dirty="0"/>
          </a:p>
          <a:p>
            <a:pPr marL="342900" indent="-342900">
              <a:spcAft>
                <a:spcPts val="600"/>
              </a:spcAft>
              <a:buSzPct val="100000"/>
              <a:buChar char="•"/>
            </a:pPr>
            <a:r>
              <a:rPr lang="en-US" sz="1500" dirty="0">
                <a:solidFill>
                  <a:schemeClr val="tx1"/>
                </a:solidFill>
              </a:rPr>
              <a:t>R6 = 2·R5 (R5 = 10 kΩ)</a:t>
            </a:r>
            <a:endParaRPr lang="en-US" sz="1600" dirty="0"/>
          </a:p>
          <a:p>
            <a:pPr marL="342900" indent="-342900">
              <a:spcAft>
                <a:spcPts val="600"/>
              </a:spcAft>
              <a:buSzPct val="100000"/>
              <a:buChar char="•"/>
            </a:pPr>
            <a:r>
              <a:rPr lang="en-US" sz="1500" dirty="0">
                <a:solidFill>
                  <a:schemeClr val="tx1"/>
                </a:solidFill>
              </a:rPr>
              <a:t>Result: Vr = |Vg|</a:t>
            </a:r>
            <a:endParaRPr lang="en-US" sz="1600" dirty="0"/>
          </a:p>
        </p:txBody>
      </p:sp>
      <p:sp>
        <p:nvSpPr>
          <p:cNvPr id="8" name="Text 5"/>
          <p:cNvSpPr txBox="1"/>
          <p:nvPr/>
        </p:nvSpPr>
        <p:spPr>
          <a:xfrm>
            <a:off x="5760720" y="3611880"/>
            <a:ext cx="2926080" cy="685800"/>
          </a:xfrm>
          <a:prstGeom prst="rect">
            <a:avLst/>
          </a:prstGeom>
          <a:noFill/>
          <a:ln/>
        </p:spPr>
        <p:txBody>
          <a:bodyPr wrap="square" lIns="0" tIns="0" rIns="0" bIns="0" rtlCol="0" anchor="ctr"/>
          <a:lstStyle/>
          <a:p>
            <a:pPr marL="0" indent="0">
              <a:buNone/>
            </a:pPr>
            <a:r>
              <a:rPr lang="en-US" sz="3600" b="1" dirty="0">
                <a:solidFill>
                  <a:schemeClr val="accent2"/>
                </a:solidFill>
              </a:rPr>
              <a:t>1 %</a:t>
            </a:r>
            <a:endParaRPr lang="en-US" sz="3600" dirty="0"/>
          </a:p>
        </p:txBody>
      </p:sp>
      <p:sp>
        <p:nvSpPr>
          <p:cNvPr id="9" name="Text 6"/>
          <p:cNvSpPr txBox="1"/>
          <p:nvPr/>
        </p:nvSpPr>
        <p:spPr>
          <a:xfrm>
            <a:off x="5760720" y="4297680"/>
            <a:ext cx="2926080" cy="411480"/>
          </a:xfrm>
          <a:prstGeom prst="rect">
            <a:avLst/>
          </a:prstGeom>
          <a:noFill/>
          <a:ln/>
        </p:spPr>
        <p:txBody>
          <a:bodyPr wrap="square" lIns="0" tIns="0" rIns="0" bIns="0" rtlCol="0" anchor="t"/>
          <a:lstStyle/>
          <a:p>
            <a:pPr marL="0" indent="0">
              <a:buNone/>
            </a:pPr>
            <a:r>
              <a:rPr lang="en-US" sz="1300" dirty="0">
                <a:solidFill>
                  <a:schemeClr val="accent3"/>
                </a:solidFill>
              </a:rPr>
              <a:t>tolerance for R2 to R6</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schematic diagram with various electrical components and labels, including resistors (Rs), capacitors (C), diodes (D), and voltage sources (V), along with annotations such as 'falla Saat,' 'Uhw,' and 'Nroo Yallo.' It seems to be a circuit diagram with components connected in a specific configuration, but without the actual image, I cannot provide a detailed description.&#10;&#10;El contenido generado por IA puede ser incorrecto.">
            <a:extLst>
              <a:ext uri="{FF2B5EF4-FFF2-40B4-BE49-F238E27FC236}">
                <a16:creationId xmlns:a16="http://schemas.microsoft.com/office/drawing/2014/main" id="{990FD327-342D-18F8-E5BF-98172CFF7170}"/>
              </a:ext>
            </a:extLst>
          </p:cNvPr>
          <p:cNvPicPr>
            <a:picLocks noChangeAspect="1"/>
          </p:cNvPicPr>
          <p:nvPr/>
        </p:nvPicPr>
        <p:blipFill>
          <a:blip r:embed="rId2"/>
          <a:stretch>
            <a:fillRect/>
          </a:stretch>
        </p:blipFill>
        <p:spPr>
          <a:xfrm>
            <a:off x="0" y="50006"/>
            <a:ext cx="9144000" cy="5043488"/>
          </a:xfrm>
          <a:prstGeom prst="rect">
            <a:avLst/>
          </a:prstGeom>
        </p:spPr>
      </p:pic>
    </p:spTree>
    <p:extLst>
      <p:ext uri="{BB962C8B-B14F-4D97-AF65-F5344CB8AC3E}">
        <p14:creationId xmlns:p14="http://schemas.microsoft.com/office/powerpoint/2010/main" val="1583946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ext appears to be a schematic diagram or circuit layout, showing various components like resistors, capacitors, and voltage sources, but without further context, it's difficult to provide a detailed description.&#10;&#10;El contenido generado por IA puede ser incorrecto.">
            <a:extLst>
              <a:ext uri="{FF2B5EF4-FFF2-40B4-BE49-F238E27FC236}">
                <a16:creationId xmlns:a16="http://schemas.microsoft.com/office/drawing/2014/main" id="{D9404282-3386-255F-AC04-2D51AD6B7BC4}"/>
              </a:ext>
            </a:extLst>
          </p:cNvPr>
          <p:cNvPicPr>
            <a:picLocks noChangeAspect="1"/>
          </p:cNvPicPr>
          <p:nvPr/>
        </p:nvPicPr>
        <p:blipFill>
          <a:blip r:embed="rId2"/>
          <a:stretch>
            <a:fillRect/>
          </a:stretch>
        </p:blipFill>
        <p:spPr>
          <a:xfrm>
            <a:off x="2398067" y="42390"/>
            <a:ext cx="4347865" cy="5143500"/>
          </a:xfrm>
          <a:prstGeom prst="rect">
            <a:avLst/>
          </a:prstGeom>
        </p:spPr>
      </p:pic>
    </p:spTree>
    <p:extLst>
      <p:ext uri="{BB962C8B-B14F-4D97-AF65-F5344CB8AC3E}">
        <p14:creationId xmlns:p14="http://schemas.microsoft.com/office/powerpoint/2010/main" val="324617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circuit diagram with various voltage levels, components, and waveforms, including input voltage (Vg), output voltages (Vhw, Vr), and a sinusoidal signal.&#10;&#10;El contenido generado por IA puede ser incorrecto.">
            <a:extLst>
              <a:ext uri="{FF2B5EF4-FFF2-40B4-BE49-F238E27FC236}">
                <a16:creationId xmlns:a16="http://schemas.microsoft.com/office/drawing/2014/main" id="{4E43CFD1-9CE4-77DF-1D45-B24B18021611}"/>
              </a:ext>
            </a:extLst>
          </p:cNvPr>
          <p:cNvPicPr>
            <a:picLocks noChangeAspect="1"/>
          </p:cNvPicPr>
          <p:nvPr/>
        </p:nvPicPr>
        <p:blipFill>
          <a:blip r:embed="rId2"/>
          <a:stretch>
            <a:fillRect/>
          </a:stretch>
        </p:blipFill>
        <p:spPr>
          <a:xfrm>
            <a:off x="1524688" y="467189"/>
            <a:ext cx="5803100" cy="3995809"/>
          </a:xfrm>
          <a:prstGeom prst="rect">
            <a:avLst/>
          </a:prstGeom>
        </p:spPr>
      </p:pic>
    </p:spTree>
    <p:extLst>
      <p:ext uri="{BB962C8B-B14F-4D97-AF65-F5344CB8AC3E}">
        <p14:creationId xmlns:p14="http://schemas.microsoft.com/office/powerpoint/2010/main" val="104705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952206" y="41148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Stage 3 · Peak detector</a:t>
            </a:r>
            <a:endParaRPr lang="en-US" sz="3000" dirty="0"/>
          </a:p>
        </p:txBody>
      </p:sp>
      <p:sp>
        <p:nvSpPr>
          <p:cNvPr id="3" name="Etapa 3"/>
          <p:cNvSpPr/>
          <p:nvPr/>
        </p:nvSpPr>
        <p:spPr>
          <a:xfrm>
            <a:off x="8641382" y="22860"/>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8641382" y="228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pic>
        <p:nvPicPr>
          <p:cNvPr id="5" name="Cálculo detector" descr="/home/claude/informe_latex/figuras/calc_detector.png"/>
          <p:cNvPicPr>
            <a:picLocks noChangeAspect="1"/>
          </p:cNvPicPr>
          <p:nvPr/>
        </p:nvPicPr>
        <p:blipFill>
          <a:blip r:embed="rId3"/>
          <a:stretch>
            <a:fillRect/>
          </a:stretch>
        </p:blipFill>
        <p:spPr>
          <a:xfrm>
            <a:off x="0" y="480060"/>
            <a:ext cx="5002491" cy="4549140"/>
          </a:xfrm>
          <a:prstGeom prst="rect">
            <a:avLst/>
          </a:prstGeom>
        </p:spPr>
      </p:pic>
      <p:sp>
        <p:nvSpPr>
          <p:cNvPr id="6" name="Tarjeta Lo esencial"/>
          <p:cNvSpPr/>
          <p:nvPr/>
        </p:nvSpPr>
        <p:spPr>
          <a:xfrm>
            <a:off x="5029200" y="1051560"/>
            <a:ext cx="3657600" cy="1828800"/>
          </a:xfrm>
          <a:prstGeom prst="roundRect">
            <a:avLst>
              <a:gd name="adj" fmla="val 4000"/>
            </a:avLst>
          </a:prstGeom>
          <a:solidFill>
            <a:schemeClr val="bg2"/>
          </a:solidFill>
          <a:ln w="12700">
            <a:solidFill>
              <a:schemeClr val="bg2"/>
            </a:solidFill>
            <a:prstDash val="solid"/>
          </a:ln>
        </p:spPr>
        <p:txBody>
          <a:bodyPr/>
          <a:p/>
        </p:txBody>
      </p:sp>
      <p:sp>
        <p:nvSpPr>
          <p:cNvPr id="7" name="Text 4"/>
          <p:cNvSpPr txBox="1"/>
          <p:nvPr/>
        </p:nvSpPr>
        <p:spPr>
          <a:xfrm>
            <a:off x="5212080" y="1188720"/>
            <a:ext cx="3291840" cy="15544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Key points</a:t>
            </a:r>
            <a:endParaRPr lang="en-US" sz="1600" dirty="0"/>
          </a:p>
          <a:p>
            <a:pPr marL="342900" indent="-342900">
              <a:spcAft>
                <a:spcPts val="600"/>
              </a:spcAft>
              <a:buSzPct val="100000"/>
              <a:buChar char="•"/>
            </a:pPr>
            <a:r>
              <a:rPr lang="en-US" sz="1500" dirty="0">
                <a:solidFill>
                  <a:schemeClr val="tx1"/>
                </a:solidFill>
              </a:rPr>
              <a:t>τ = R9·C1 = 100 kΩ · 1 µF = 100 ms</a:t>
            </a:r>
            <a:endParaRPr lang="en-US" sz="1600" dirty="0"/>
          </a:p>
          <a:p>
            <a:pPr marL="342900" indent="-342900">
              <a:spcAft>
                <a:spcPts val="600"/>
              </a:spcAft>
              <a:buSzPct val="100000"/>
              <a:buChar char="•"/>
            </a:pPr>
            <a:r>
              <a:rPr lang="en-US" sz="1500" dirty="0">
                <a:solidFill>
                  <a:schemeClr val="tx1"/>
                </a:solidFill>
              </a:rPr>
              <a:t>Valid range: 90–110 ms</a:t>
            </a:r>
            <a:endParaRPr lang="en-US" sz="1600" dirty="0"/>
          </a:p>
          <a:p>
            <a:pPr marL="342900" indent="-342900">
              <a:spcAft>
                <a:spcPts val="600"/>
              </a:spcAft>
              <a:buSzPct val="100000"/>
              <a:buChar char="•"/>
            </a:pPr>
            <a:r>
              <a:rPr lang="en-US" sz="1500" dirty="0">
                <a:solidFill>
                  <a:schemeClr val="tx1"/>
                </a:solidFill>
              </a:rPr>
              <a:t>Buffer: τ is independent of R8</a:t>
            </a:r>
            <a:endParaRPr lang="en-US" sz="1600" dirty="0"/>
          </a:p>
        </p:txBody>
      </p:sp>
      <p:sp>
        <p:nvSpPr>
          <p:cNvPr id="8" name="Text 5"/>
          <p:cNvSpPr txBox="1"/>
          <p:nvPr/>
        </p:nvSpPr>
        <p:spPr>
          <a:xfrm>
            <a:off x="5029200" y="3291840"/>
            <a:ext cx="1737360" cy="685800"/>
          </a:xfrm>
          <a:prstGeom prst="rect">
            <a:avLst/>
          </a:prstGeom>
          <a:noFill/>
          <a:ln/>
        </p:spPr>
        <p:txBody>
          <a:bodyPr wrap="square" lIns="0" tIns="0" rIns="0" bIns="0" rtlCol="0" anchor="ctr"/>
          <a:lstStyle/>
          <a:p>
            <a:pPr marL="0" indent="0">
              <a:buNone/>
            </a:pPr>
            <a:r>
              <a:rPr lang="en-US" sz="3600" b="1" dirty="0">
                <a:solidFill>
                  <a:schemeClr val="accent1"/>
                </a:solidFill>
              </a:rPr>
              <a:t>100 ms</a:t>
            </a:r>
            <a:endParaRPr lang="en-US" sz="3600" dirty="0"/>
          </a:p>
        </p:txBody>
      </p:sp>
      <p:sp>
        <p:nvSpPr>
          <p:cNvPr id="9" name="Text 6"/>
          <p:cNvSpPr txBox="1"/>
          <p:nvPr/>
        </p:nvSpPr>
        <p:spPr>
          <a:xfrm>
            <a:off x="5029200" y="3977640"/>
            <a:ext cx="1737360" cy="411480"/>
          </a:xfrm>
          <a:prstGeom prst="rect">
            <a:avLst/>
          </a:prstGeom>
          <a:noFill/>
          <a:ln/>
        </p:spPr>
        <p:txBody>
          <a:bodyPr wrap="square" lIns="0" tIns="0" rIns="0" bIns="0" rtlCol="0" anchor="t"/>
          <a:lstStyle/>
          <a:p>
            <a:pPr marL="0" indent="0">
              <a:buNone/>
            </a:pPr>
            <a:r>
              <a:rPr lang="en-US" sz="1300" dirty="0">
                <a:solidFill>
                  <a:schemeClr val="accent3"/>
                </a:solidFill>
              </a:rPr>
              <a:t>discharge time constant</a:t>
            </a:r>
            <a:endParaRPr lang="en-US" sz="1300" dirty="0"/>
          </a:p>
        </p:txBody>
      </p:sp>
      <p:sp>
        <p:nvSpPr>
          <p:cNvPr id="10" name="Text 7"/>
          <p:cNvSpPr txBox="1"/>
          <p:nvPr/>
        </p:nvSpPr>
        <p:spPr>
          <a:xfrm>
            <a:off x="6949440" y="3291840"/>
            <a:ext cx="1737360" cy="685800"/>
          </a:xfrm>
          <a:prstGeom prst="rect">
            <a:avLst/>
          </a:prstGeom>
          <a:noFill/>
          <a:ln/>
        </p:spPr>
        <p:txBody>
          <a:bodyPr wrap="square" lIns="0" tIns="0" rIns="0" bIns="0" rtlCol="0" anchor="ctr"/>
          <a:lstStyle/>
          <a:p>
            <a:pPr marL="0" indent="0">
              <a:buNone/>
            </a:pPr>
            <a:r>
              <a:rPr lang="en-US" sz="3600" b="1" dirty="0">
                <a:solidFill>
                  <a:schemeClr val="accent2"/>
                </a:solidFill>
              </a:rPr>
              <a:t>0.1 ms</a:t>
            </a:r>
            <a:endParaRPr lang="en-US" sz="3600" dirty="0"/>
          </a:p>
        </p:txBody>
      </p:sp>
      <p:sp>
        <p:nvSpPr>
          <p:cNvPr id="11" name="Text 8"/>
          <p:cNvSpPr txBox="1"/>
          <p:nvPr/>
        </p:nvSpPr>
        <p:spPr>
          <a:xfrm>
            <a:off x="6949440" y="3977640"/>
            <a:ext cx="1737360" cy="411480"/>
          </a:xfrm>
          <a:prstGeom prst="rect">
            <a:avLst/>
          </a:prstGeom>
          <a:noFill/>
          <a:ln/>
        </p:spPr>
        <p:txBody>
          <a:bodyPr wrap="square" lIns="0" tIns="0" rIns="0" bIns="0" rtlCol="0" anchor="t"/>
          <a:lstStyle/>
          <a:p>
            <a:pPr marL="0" indent="0">
              <a:buNone/>
            </a:pPr>
            <a:r>
              <a:rPr lang="en-US" sz="1300" dirty="0">
                <a:solidFill>
                  <a:schemeClr val="accent3"/>
                </a:solidFill>
              </a:rPr>
              <a:t>charge time constant</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ext appears to be a rough handwritten draft with mathematical and technical expressions, possibly related to electronics or circuit design, but without a clear image, it's difficult to describe it accurately.&#10;&#10;El contenido generado por IA puede ser incorrecto.">
            <a:extLst>
              <a:ext uri="{FF2B5EF4-FFF2-40B4-BE49-F238E27FC236}">
                <a16:creationId xmlns:a16="http://schemas.microsoft.com/office/drawing/2014/main" id="{1FBFC1C3-E890-A5FA-6479-0D3FCEC24CB7}"/>
              </a:ext>
            </a:extLst>
          </p:cNvPr>
          <p:cNvPicPr>
            <a:picLocks noChangeAspect="1"/>
          </p:cNvPicPr>
          <p:nvPr/>
        </p:nvPicPr>
        <p:blipFill>
          <a:blip r:embed="rId2"/>
          <a:stretch>
            <a:fillRect/>
          </a:stretch>
        </p:blipFill>
        <p:spPr>
          <a:xfrm>
            <a:off x="92839" y="0"/>
            <a:ext cx="9139481" cy="5262342"/>
          </a:xfrm>
          <a:prstGeom prst="rect">
            <a:avLst/>
          </a:prstGeom>
        </p:spPr>
      </p:pic>
    </p:spTree>
    <p:extLst>
      <p:ext uri="{BB962C8B-B14F-4D97-AF65-F5344CB8AC3E}">
        <p14:creationId xmlns:p14="http://schemas.microsoft.com/office/powerpoint/2010/main" val="3492193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The QRS complex is composed of separated lobes (Q, R, and S) that last from 80 to 120 ms in an adult, with the envelope not dropping more than 20% to prevent the comparator from triggering a double beat: e-20ms/T &gt; 0.8 &gt; T &gt; i.&#10;&#10;El contenido generado por IA puede ser incorrecto.">
            <a:extLst>
              <a:ext uri="{FF2B5EF4-FFF2-40B4-BE49-F238E27FC236}">
                <a16:creationId xmlns:a16="http://schemas.microsoft.com/office/drawing/2014/main" id="{33067470-D763-28AF-71DD-0C55A0D4CDD0}"/>
              </a:ext>
            </a:extLst>
          </p:cNvPr>
          <p:cNvPicPr>
            <a:picLocks noChangeAspect="1"/>
          </p:cNvPicPr>
          <p:nvPr/>
        </p:nvPicPr>
        <p:blipFill>
          <a:blip r:embed="rId2"/>
          <a:stretch>
            <a:fillRect/>
          </a:stretch>
        </p:blipFill>
        <p:spPr>
          <a:xfrm>
            <a:off x="0" y="65435"/>
            <a:ext cx="9144000" cy="2929493"/>
          </a:xfrm>
          <a:prstGeom prst="rect">
            <a:avLst/>
          </a:prstGeom>
        </p:spPr>
      </p:pic>
      <p:pic>
        <p:nvPicPr>
          <p:cNvPr id="8" name="Imagen 7" descr="The image illustrates a graph or chart with various data points, including a maximum threshold (T) of 9.8V, a maximum frequency of 150 lpm, and a time (T) of 400ms. It includes equations and specific values such as 0.52V at stage 4 and time measurements ranging from 75 ms to 325 ms. The chosen point is in the window of 90 ms to 110 ms with T set at 100 ms.&#10;&#10;El contenido generado por IA puede ser incorrecto.">
            <a:extLst>
              <a:ext uri="{FF2B5EF4-FFF2-40B4-BE49-F238E27FC236}">
                <a16:creationId xmlns:a16="http://schemas.microsoft.com/office/drawing/2014/main" id="{15BAB143-B6D9-BD89-61C3-7297C43FA184}"/>
              </a:ext>
            </a:extLst>
          </p:cNvPr>
          <p:cNvPicPr>
            <a:picLocks noChangeAspect="1"/>
          </p:cNvPicPr>
          <p:nvPr/>
        </p:nvPicPr>
        <p:blipFill>
          <a:blip r:embed="rId3"/>
          <a:stretch>
            <a:fillRect/>
          </a:stretch>
        </p:blipFill>
        <p:spPr>
          <a:xfrm>
            <a:off x="48445" y="3092477"/>
            <a:ext cx="9144000" cy="1925803"/>
          </a:xfrm>
          <a:prstGeom prst="rect">
            <a:avLst/>
          </a:prstGeom>
        </p:spPr>
      </p:pic>
    </p:spTree>
    <p:extLst>
      <p:ext uri="{BB962C8B-B14F-4D97-AF65-F5344CB8AC3E}">
        <p14:creationId xmlns:p14="http://schemas.microsoft.com/office/powerpoint/2010/main" val="3205261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n electrical circuit diagram with components and values such as voltage (V), current (I), and resistance (R), alongside a table of measurements and specifications.&#10;&#10;El contenido generado por IA puede ser incorrecto.">
            <a:extLst>
              <a:ext uri="{FF2B5EF4-FFF2-40B4-BE49-F238E27FC236}">
                <a16:creationId xmlns:a16="http://schemas.microsoft.com/office/drawing/2014/main" id="{0AEA06B3-2EB8-81F7-6217-29F71618948C}"/>
              </a:ext>
            </a:extLst>
          </p:cNvPr>
          <p:cNvPicPr>
            <a:picLocks noChangeAspect="1"/>
          </p:cNvPicPr>
          <p:nvPr/>
        </p:nvPicPr>
        <p:blipFill>
          <a:blip r:embed="rId2"/>
          <a:stretch>
            <a:fillRect/>
          </a:stretch>
        </p:blipFill>
        <p:spPr>
          <a:xfrm>
            <a:off x="2052857" y="230775"/>
            <a:ext cx="5256287" cy="7697995"/>
          </a:xfrm>
          <a:prstGeom prst="rect">
            <a:avLst/>
          </a:prstGeom>
        </p:spPr>
      </p:pic>
    </p:spTree>
    <p:extLst>
      <p:ext uri="{BB962C8B-B14F-4D97-AF65-F5344CB8AC3E}">
        <p14:creationId xmlns:p14="http://schemas.microsoft.com/office/powerpoint/2010/main" val="2023033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able displays various parameters and measurements related to the detector's starting conditions, including voltage values, pulse widths, QRS complex characteristics, and electrical specifications for an op-amp.&#10;&#10;El contenido generado por IA puede ser incorrecto.">
            <a:extLst>
              <a:ext uri="{FF2B5EF4-FFF2-40B4-BE49-F238E27FC236}">
                <a16:creationId xmlns:a16="http://schemas.microsoft.com/office/drawing/2014/main" id="{40BA559C-9AAB-467B-7DCB-9D9B19FF8EBB}"/>
              </a:ext>
            </a:extLst>
          </p:cNvPr>
          <p:cNvPicPr>
            <a:picLocks noChangeAspect="1"/>
          </p:cNvPicPr>
          <p:nvPr/>
        </p:nvPicPr>
        <p:blipFill>
          <a:blip r:embed="rId2"/>
          <a:stretch>
            <a:fillRect/>
          </a:stretch>
        </p:blipFill>
        <p:spPr>
          <a:xfrm>
            <a:off x="1295116" y="1097152"/>
            <a:ext cx="6553768" cy="2949196"/>
          </a:xfrm>
          <a:prstGeom prst="rect">
            <a:avLst/>
          </a:prstGeom>
        </p:spPr>
      </p:pic>
    </p:spTree>
    <p:extLst>
      <p:ext uri="{BB962C8B-B14F-4D97-AF65-F5344CB8AC3E}">
        <p14:creationId xmlns:p14="http://schemas.microsoft.com/office/powerpoint/2010/main" val="403139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τ sets the maximum heart rate</a:t>
            </a:r>
            <a:endParaRPr lang="en-US" sz="3000" dirty="0"/>
          </a:p>
        </p:txBody>
      </p:sp>
      <p:graphicFrame>
        <p:nvGraphicFramePr>
          <p:cNvPr id="3" name="Grafica FCmax"/>
          <p:cNvGraphicFramePr/>
          <p:nvPr/>
        </p:nvGraphicFramePr>
        <p:xfrm>
          <a:off x="365760" y="1005840"/>
          <a:ext cx="56692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Tarjeta Fórmula"/>
          <p:cNvSpPr/>
          <p:nvPr/>
        </p:nvSpPr>
        <p:spPr>
          <a:xfrm>
            <a:off x="6309360" y="1005840"/>
            <a:ext cx="2377440" cy="1417320"/>
          </a:xfrm>
          <a:prstGeom prst="roundRect">
            <a:avLst>
              <a:gd name="adj" fmla="val 5161"/>
            </a:avLst>
          </a:prstGeom>
          <a:solidFill>
            <a:schemeClr val="bg2"/>
          </a:solidFill>
          <a:ln w="12700">
            <a:solidFill>
              <a:schemeClr val="bg2"/>
            </a:solidFill>
            <a:prstDash val="solid"/>
          </a:ln>
        </p:spPr>
        <p:txBody>
          <a:bodyPr/>
          <a:p/>
        </p:txBody>
      </p:sp>
      <p:sp>
        <p:nvSpPr>
          <p:cNvPr id="5" name="Text 2"/>
          <p:cNvSpPr txBox="1"/>
          <p:nvPr/>
        </p:nvSpPr>
        <p:spPr>
          <a:xfrm>
            <a:off x="6492240" y="1089710"/>
            <a:ext cx="2011680" cy="1143000"/>
          </a:xfrm>
          <a:prstGeom prst="rect">
            <a:avLst/>
          </a:prstGeom>
          <a:noFill/>
          <a:ln/>
        </p:spPr>
        <p:txBody>
          <a:bodyPr wrap="square" lIns="0" tIns="0" rIns="0" bIns="0" rtlCol="0" anchor="t"/>
          <a:lstStyle/>
          <a:p>
            <a:pPr marL="0" indent="0">
              <a:spcAft>
                <a:spcPts val="600"/>
              </a:spcAft>
              <a:buNone/>
            </a:pPr>
            <a:r>
              <a:rPr lang="en-US" sz="1600" b="1" dirty="0" err="1">
                <a:solidFill>
                  <a:schemeClr val="accent1"/>
                </a:solidFill>
              </a:rPr>
              <a:t>Formula</a:t>
            </a:r>
            <a:r>
              <a:rPr lang="en-US" sz="1600" b="1" dirty="0">
                <a:solidFill>
                  <a:schemeClr val="accent1"/>
                </a:solidFill>
              </a:rPr>
              <a:t> (</a:t>
            </a:r>
            <a:r>
              <a:rPr lang="en-US" sz="1600" b="1" dirty="0" err="1">
                <a:solidFill>
                  <a:schemeClr val="accent1"/>
                </a:solidFill>
              </a:rPr>
              <a:t>taken</a:t>
            </a:r>
            <a:r>
              <a:rPr lang="en-US" sz="1600" b="1" dirty="0">
                <a:solidFill>
                  <a:schemeClr val="accent1"/>
                </a:solidFill>
              </a:rPr>
              <a:t> from the </a:t>
            </a:r>
            <a:r>
              <a:rPr lang="en-US" sz="1600" b="1" dirty="0" err="1">
                <a:solidFill>
                  <a:schemeClr val="accent1"/>
                </a:solidFill>
              </a:rPr>
              <a:t>report</a:t>
            </a:r>
            <a:r>
              <a:rPr lang="en-US" sz="1600" b="1" dirty="0">
                <a:solidFill>
                  <a:schemeClr val="accent1"/>
                </a:solidFill>
              </a:rPr>
              <a:t>)</a:t>
            </a:r>
            <a:endParaRPr lang="en-US" sz="1600" dirty="0"/>
          </a:p>
          <a:p>
            <a:pPr>
              <a:spcAft>
                <a:spcPts val="600"/>
              </a:spcAft>
              <a:buSzPct val="100000"/>
            </a:pPr>
            <a:endParaRPr lang="en-US" sz="1600" dirty="0"/>
          </a:p>
        </p:txBody>
      </p:sp>
      <p:sp>
        <p:nvSpPr>
          <p:cNvPr id="6" name="Text 3"/>
          <p:cNvSpPr txBox="1"/>
          <p:nvPr/>
        </p:nvSpPr>
        <p:spPr>
          <a:xfrm>
            <a:off x="6309360" y="2743200"/>
            <a:ext cx="2377440" cy="685800"/>
          </a:xfrm>
          <a:prstGeom prst="rect">
            <a:avLst/>
          </a:prstGeom>
          <a:noFill/>
          <a:ln/>
        </p:spPr>
        <p:txBody>
          <a:bodyPr wrap="square" lIns="0" tIns="0" rIns="0" bIns="0" rtlCol="0" anchor="ctr"/>
          <a:lstStyle/>
          <a:p>
            <a:pPr marL="0" indent="0">
              <a:buNone/>
            </a:pPr>
            <a:r>
              <a:rPr lang="en-US" sz="3600" b="1" dirty="0">
                <a:solidFill>
                  <a:schemeClr val="accent2"/>
                </a:solidFill>
              </a:rPr>
              <a:t>163 bpm</a:t>
            </a:r>
            <a:endParaRPr lang="en-US" sz="3600" dirty="0"/>
          </a:p>
        </p:txBody>
      </p:sp>
      <p:sp>
        <p:nvSpPr>
          <p:cNvPr id="7" name="Text 4"/>
          <p:cNvSpPr txBox="1"/>
          <p:nvPr/>
        </p:nvSpPr>
        <p:spPr>
          <a:xfrm>
            <a:off x="6309360" y="3429000"/>
            <a:ext cx="2377440" cy="411480"/>
          </a:xfrm>
          <a:prstGeom prst="rect">
            <a:avLst/>
          </a:prstGeom>
          <a:noFill/>
          <a:ln/>
        </p:spPr>
        <p:txBody>
          <a:bodyPr wrap="square" lIns="0" tIns="0" rIns="0" bIns="0" rtlCol="0" anchor="t"/>
          <a:lstStyle/>
          <a:p>
            <a:pPr marL="0" indent="0">
              <a:buNone/>
            </a:pPr>
            <a:r>
              <a:rPr lang="en-US" sz="1300" dirty="0">
                <a:solidFill>
                  <a:schemeClr val="accent3"/>
                </a:solidFill>
              </a:rPr>
              <a:t>limit at 2 Vpp</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19</a:t>
            </a:fld>
            <a:endParaRPr lang="en-US"/>
          </a:p>
        </p:txBody>
      </p:sp>
      <p:pic>
        <p:nvPicPr>
          <p:cNvPr id="13" name="Imagen 12" descr="The image depicts an equation or formula where FCmax equals 60, followed by additional variables or parameters represented by mathematical symbols and functions.&#10;&#10;El contenido generado por IA puede ser incorrecto.">
            <a:extLst>
              <a:ext uri="{FF2B5EF4-FFF2-40B4-BE49-F238E27FC236}">
                <a16:creationId xmlns:a16="http://schemas.microsoft.com/office/drawing/2014/main" id="{3CC70171-845C-6CFD-64D2-3378E5013A9D}"/>
              </a:ext>
            </a:extLst>
          </p:cNvPr>
          <p:cNvPicPr>
            <a:picLocks noChangeAspect="1"/>
          </p:cNvPicPr>
          <p:nvPr/>
        </p:nvPicPr>
        <p:blipFill>
          <a:blip r:embed="rId4"/>
          <a:stretch>
            <a:fillRect/>
          </a:stretch>
        </p:blipFill>
        <p:spPr>
          <a:xfrm>
            <a:off x="6332119" y="1546814"/>
            <a:ext cx="2331922" cy="53344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graph comparing the discharge time and pulse width for different input voltages (Vp) on a capacitor (C1) being discharged to a voltage (VTL) over time (ms).&#10;&#10;El contenido generado por IA puede ser incorrecto.">
            <a:extLst>
              <a:ext uri="{FF2B5EF4-FFF2-40B4-BE49-F238E27FC236}">
                <a16:creationId xmlns:a16="http://schemas.microsoft.com/office/drawing/2014/main" id="{8F8626E3-FA68-17A3-284D-E070D8B179FA}"/>
              </a:ext>
            </a:extLst>
          </p:cNvPr>
          <p:cNvPicPr>
            <a:picLocks noChangeAspect="1"/>
          </p:cNvPicPr>
          <p:nvPr/>
        </p:nvPicPr>
        <p:blipFill>
          <a:blip r:embed="rId2"/>
          <a:stretch>
            <a:fillRect/>
          </a:stretch>
        </p:blipFill>
        <p:spPr>
          <a:xfrm>
            <a:off x="1405625" y="0"/>
            <a:ext cx="6332749" cy="5143500"/>
          </a:xfrm>
          <a:prstGeom prst="rect">
            <a:avLst/>
          </a:prstGeom>
        </p:spPr>
      </p:pic>
    </p:spTree>
    <p:extLst>
      <p:ext uri="{BB962C8B-B14F-4D97-AF65-F5344CB8AC3E}">
        <p14:creationId xmlns:p14="http://schemas.microsoft.com/office/powerpoint/2010/main" val="2568611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72348" y="443255"/>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Stage 4 · Schmitt comparator</a:t>
            </a:r>
            <a:endParaRPr lang="en-US" sz="3000" dirty="0"/>
          </a:p>
        </p:txBody>
      </p:sp>
      <p:sp>
        <p:nvSpPr>
          <p:cNvPr id="3" name="Etapa 4"/>
          <p:cNvSpPr/>
          <p:nvPr/>
        </p:nvSpPr>
        <p:spPr>
          <a:xfrm>
            <a:off x="8549640" y="123215"/>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8549640" y="100355"/>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pic>
        <p:nvPicPr>
          <p:cNvPr id="5" name="Cálculo Schmitt" descr="/home/claude/informe_latex/figuras/calc_schmitt.png"/>
          <p:cNvPicPr>
            <a:picLocks noChangeAspect="1"/>
          </p:cNvPicPr>
          <p:nvPr/>
        </p:nvPicPr>
        <p:blipFill>
          <a:blip r:embed="rId3"/>
          <a:stretch>
            <a:fillRect/>
          </a:stretch>
        </p:blipFill>
        <p:spPr>
          <a:xfrm>
            <a:off x="0" y="205390"/>
            <a:ext cx="4389121" cy="4793578"/>
          </a:xfrm>
          <a:prstGeom prst="rect">
            <a:avLst/>
          </a:prstGeom>
        </p:spPr>
      </p:pic>
      <p:sp>
        <p:nvSpPr>
          <p:cNvPr id="6" name="Tarjeta Lo esencial"/>
          <p:cNvSpPr/>
          <p:nvPr/>
        </p:nvSpPr>
        <p:spPr>
          <a:xfrm>
            <a:off x="4389120" y="1005840"/>
            <a:ext cx="4297680" cy="1828800"/>
          </a:xfrm>
          <a:prstGeom prst="roundRect">
            <a:avLst>
              <a:gd name="adj" fmla="val 4000"/>
            </a:avLst>
          </a:prstGeom>
          <a:solidFill>
            <a:schemeClr val="bg2"/>
          </a:solidFill>
          <a:ln w="12700">
            <a:solidFill>
              <a:schemeClr val="bg2"/>
            </a:solidFill>
            <a:prstDash val="solid"/>
          </a:ln>
        </p:spPr>
        <p:txBody>
          <a:bodyPr/>
          <a:p/>
        </p:txBody>
      </p:sp>
      <p:sp>
        <p:nvSpPr>
          <p:cNvPr id="7" name="Text 4"/>
          <p:cNvSpPr txBox="1"/>
          <p:nvPr/>
        </p:nvSpPr>
        <p:spPr>
          <a:xfrm>
            <a:off x="4572000" y="1143000"/>
            <a:ext cx="3931920" cy="15544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Key points</a:t>
            </a:r>
            <a:endParaRPr lang="en-US" sz="1600" dirty="0"/>
          </a:p>
          <a:p>
            <a:pPr marL="342900" indent="-342900">
              <a:spcAft>
                <a:spcPts val="600"/>
              </a:spcAft>
              <a:buSzPct val="100000"/>
              <a:buChar char="•"/>
            </a:pPr>
            <a:r>
              <a:rPr lang="en-US" sz="1500" dirty="0">
                <a:solidFill>
                  <a:schemeClr val="tx1"/>
                </a:solidFill>
              </a:rPr>
              <a:t>k = R10/R11 = 0.0233 (430 kΩ)</a:t>
            </a:r>
            <a:endParaRPr lang="en-US" sz="1600" dirty="0"/>
          </a:p>
          <a:p>
            <a:pPr marL="342900" indent="-342900">
              <a:spcAft>
                <a:spcPts val="600"/>
              </a:spcAft>
              <a:buSzPct val="100000"/>
              <a:buChar char="•"/>
            </a:pPr>
            <a:r>
              <a:rPr lang="en-US" sz="1500" dirty="0">
                <a:solidFill>
                  <a:schemeClr val="tx1"/>
                </a:solidFill>
              </a:rPr>
              <a:t>Vref = 0.75 V (R12 = 15 kΩ, R13 = 1 kΩ)</a:t>
            </a:r>
            <a:endParaRPr lang="en-US" sz="1600" dirty="0"/>
          </a:p>
        </p:txBody>
      </p:sp>
      <p:sp>
        <p:nvSpPr>
          <p:cNvPr id="8" name="Text 5"/>
          <p:cNvSpPr txBox="1"/>
          <p:nvPr/>
        </p:nvSpPr>
        <p:spPr>
          <a:xfrm>
            <a:off x="4389120" y="3108960"/>
            <a:ext cx="1325880" cy="685800"/>
          </a:xfrm>
          <a:prstGeom prst="rect">
            <a:avLst/>
          </a:prstGeom>
          <a:noFill/>
          <a:ln/>
        </p:spPr>
        <p:txBody>
          <a:bodyPr wrap="square" lIns="0" tIns="0" rIns="0" bIns="0" rtlCol="0" anchor="ctr"/>
          <a:lstStyle/>
          <a:p>
            <a:pPr marL="0" indent="0">
              <a:buNone/>
            </a:pPr>
            <a:r>
              <a:rPr lang="en-US" sz="3600" b="1" dirty="0">
                <a:solidFill>
                  <a:schemeClr val="accent1"/>
                </a:solidFill>
              </a:rPr>
              <a:t>1.01 V</a:t>
            </a:r>
            <a:endParaRPr lang="en-US" sz="3600" dirty="0"/>
          </a:p>
        </p:txBody>
      </p:sp>
      <p:sp>
        <p:nvSpPr>
          <p:cNvPr id="9" name="Text 6"/>
          <p:cNvSpPr txBox="1"/>
          <p:nvPr/>
        </p:nvSpPr>
        <p:spPr>
          <a:xfrm>
            <a:off x="4389120" y="3794760"/>
            <a:ext cx="1325880" cy="411480"/>
          </a:xfrm>
          <a:prstGeom prst="rect">
            <a:avLst/>
          </a:prstGeom>
          <a:noFill/>
          <a:ln/>
        </p:spPr>
        <p:txBody>
          <a:bodyPr wrap="square" lIns="0" tIns="0" rIns="0" bIns="0" rtlCol="0" anchor="t"/>
          <a:lstStyle/>
          <a:p>
            <a:pPr marL="0" indent="0">
              <a:buNone/>
            </a:pPr>
            <a:r>
              <a:rPr lang="en-US" sz="1300" dirty="0">
                <a:solidFill>
                  <a:schemeClr val="accent3"/>
                </a:solidFill>
              </a:rPr>
              <a:t>VTH (trigger)</a:t>
            </a:r>
            <a:endParaRPr lang="en-US" sz="1300" dirty="0"/>
          </a:p>
        </p:txBody>
      </p:sp>
      <p:sp>
        <p:nvSpPr>
          <p:cNvPr id="10" name="Text 7"/>
          <p:cNvSpPr txBox="1"/>
          <p:nvPr/>
        </p:nvSpPr>
        <p:spPr>
          <a:xfrm>
            <a:off x="5852160" y="3108960"/>
            <a:ext cx="1325880" cy="685800"/>
          </a:xfrm>
          <a:prstGeom prst="rect">
            <a:avLst/>
          </a:prstGeom>
          <a:noFill/>
          <a:ln/>
        </p:spPr>
        <p:txBody>
          <a:bodyPr wrap="square" lIns="0" tIns="0" rIns="0" bIns="0" rtlCol="0" anchor="ctr"/>
          <a:lstStyle/>
          <a:p>
            <a:pPr marL="0" indent="0">
              <a:buNone/>
            </a:pPr>
            <a:r>
              <a:rPr lang="en-US" sz="3600" b="1" dirty="0">
                <a:solidFill>
                  <a:schemeClr val="accent1"/>
                </a:solidFill>
              </a:rPr>
              <a:t>0.52 V</a:t>
            </a:r>
            <a:endParaRPr lang="en-US" sz="3600" dirty="0"/>
          </a:p>
        </p:txBody>
      </p:sp>
      <p:sp>
        <p:nvSpPr>
          <p:cNvPr id="11" name="Text 8"/>
          <p:cNvSpPr txBox="1"/>
          <p:nvPr/>
        </p:nvSpPr>
        <p:spPr>
          <a:xfrm>
            <a:off x="5852160" y="3794760"/>
            <a:ext cx="1325880" cy="411480"/>
          </a:xfrm>
          <a:prstGeom prst="rect">
            <a:avLst/>
          </a:prstGeom>
          <a:noFill/>
          <a:ln/>
        </p:spPr>
        <p:txBody>
          <a:bodyPr wrap="square" lIns="0" tIns="0" rIns="0" bIns="0" rtlCol="0" anchor="t"/>
          <a:lstStyle/>
          <a:p>
            <a:pPr marL="0" indent="0">
              <a:buNone/>
            </a:pPr>
            <a:r>
              <a:rPr lang="en-US" sz="1300" dirty="0">
                <a:solidFill>
                  <a:schemeClr val="accent3"/>
                </a:solidFill>
              </a:rPr>
              <a:t>VTL (release)</a:t>
            </a:r>
            <a:endParaRPr lang="en-US" sz="1300" dirty="0"/>
          </a:p>
        </p:txBody>
      </p:sp>
      <p:sp>
        <p:nvSpPr>
          <p:cNvPr id="12" name="Text 9"/>
          <p:cNvSpPr txBox="1"/>
          <p:nvPr/>
        </p:nvSpPr>
        <p:spPr>
          <a:xfrm>
            <a:off x="7315200" y="3108960"/>
            <a:ext cx="1371600" cy="685800"/>
          </a:xfrm>
          <a:prstGeom prst="rect">
            <a:avLst/>
          </a:prstGeom>
          <a:noFill/>
          <a:ln/>
        </p:spPr>
        <p:txBody>
          <a:bodyPr wrap="square" lIns="0" tIns="0" rIns="0" bIns="0" rtlCol="0" anchor="ctr"/>
          <a:lstStyle/>
          <a:p>
            <a:pPr marL="0" indent="0">
              <a:buNone/>
            </a:pPr>
            <a:r>
              <a:rPr lang="en-US" sz="3600" b="1" dirty="0">
                <a:solidFill>
                  <a:schemeClr val="accent2"/>
                </a:solidFill>
              </a:rPr>
              <a:t>0.49 V</a:t>
            </a:r>
            <a:endParaRPr lang="en-US" sz="3600" dirty="0"/>
          </a:p>
        </p:txBody>
      </p:sp>
      <p:sp>
        <p:nvSpPr>
          <p:cNvPr id="13" name="Text 10"/>
          <p:cNvSpPr txBox="1"/>
          <p:nvPr/>
        </p:nvSpPr>
        <p:spPr>
          <a:xfrm>
            <a:off x="7315200" y="3794760"/>
            <a:ext cx="1371600" cy="411480"/>
          </a:xfrm>
          <a:prstGeom prst="rect">
            <a:avLst/>
          </a:prstGeom>
          <a:noFill/>
          <a:ln/>
        </p:spPr>
        <p:txBody>
          <a:bodyPr wrap="square" lIns="0" tIns="0" rIns="0" bIns="0" rtlCol="0" anchor="t"/>
          <a:lstStyle/>
          <a:p>
            <a:pPr marL="0" indent="0">
              <a:buNone/>
            </a:pPr>
            <a:r>
              <a:rPr lang="en-US" sz="1300" dirty="0">
                <a:solidFill>
                  <a:schemeClr val="accent3"/>
                </a:solidFill>
              </a:rPr>
              <a:t>hysteresis</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1,0933,&#10;&#10;El contenido generado por IA puede ser incorrecto.">
            <a:extLst>
              <a:ext uri="{FF2B5EF4-FFF2-40B4-BE49-F238E27FC236}">
                <a16:creationId xmlns:a16="http://schemas.microsoft.com/office/drawing/2014/main" id="{F645E710-3F30-7DEA-5272-F2B867E289BE}"/>
              </a:ext>
            </a:extLst>
          </p:cNvPr>
          <p:cNvPicPr>
            <a:picLocks noChangeAspect="1"/>
          </p:cNvPicPr>
          <p:nvPr/>
        </p:nvPicPr>
        <p:blipFill>
          <a:blip r:embed="rId2"/>
          <a:srcRect b="33600"/>
          <a:stretch>
            <a:fillRect/>
          </a:stretch>
        </p:blipFill>
        <p:spPr>
          <a:xfrm>
            <a:off x="711568" y="44468"/>
            <a:ext cx="6864024" cy="5054563"/>
          </a:xfrm>
          <a:prstGeom prst="rect">
            <a:avLst/>
          </a:prstGeom>
        </p:spPr>
      </p:pic>
    </p:spTree>
    <p:extLst>
      <p:ext uri="{BB962C8B-B14F-4D97-AF65-F5344CB8AC3E}">
        <p14:creationId xmlns:p14="http://schemas.microsoft.com/office/powerpoint/2010/main" val="759043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1,0933,&#10;&#10;El contenido generado por IA puede ser incorrecto.">
            <a:extLst>
              <a:ext uri="{FF2B5EF4-FFF2-40B4-BE49-F238E27FC236}">
                <a16:creationId xmlns:a16="http://schemas.microsoft.com/office/drawing/2014/main" id="{CDEE0D7C-C92C-B655-533D-E96B44FA2ED8}"/>
              </a:ext>
            </a:extLst>
          </p:cNvPr>
          <p:cNvPicPr>
            <a:picLocks noChangeAspect="1"/>
          </p:cNvPicPr>
          <p:nvPr/>
        </p:nvPicPr>
        <p:blipFill>
          <a:blip r:embed="rId2"/>
          <a:srcRect t="65931"/>
          <a:stretch>
            <a:fillRect/>
          </a:stretch>
        </p:blipFill>
        <p:spPr>
          <a:xfrm>
            <a:off x="0" y="629784"/>
            <a:ext cx="9312122" cy="3415375"/>
          </a:xfrm>
          <a:prstGeom prst="rect">
            <a:avLst/>
          </a:prstGeom>
        </p:spPr>
      </p:pic>
    </p:spTree>
    <p:extLst>
      <p:ext uri="{BB962C8B-B14F-4D97-AF65-F5344CB8AC3E}">
        <p14:creationId xmlns:p14="http://schemas.microsoft.com/office/powerpoint/2010/main" val="2342522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DB3A9-5AB3-35F9-789C-581D83282FF9}"/>
              </a:ext>
            </a:extLst>
          </p:cNvPr>
          <p:cNvSpPr>
            <a:spLocks noGrp="1"/>
          </p:cNvSpPr>
          <p:nvPr>
            <p:ph type="title" idx="100"/>
          </p:nvPr>
        </p:nvSpPr>
        <p:spPr/>
        <p:txBody>
          <a:bodyPr/>
          <a:lstStyle/>
          <a:p>
            <a:endParaRPr lang="es-CO"/>
          </a:p>
        </p:txBody>
      </p:sp>
      <p:pic>
        <p:nvPicPr>
          <p:cNvPr id="4" name="Imagen 3" descr="The image illustrates a hysteresis loop for a Schmitt trigger, showing the relationship between VTL, VTH, and VENV, with positive and negative excursions.&#10;&#10;El contenido generado por IA puede ser incorrecto.">
            <a:extLst>
              <a:ext uri="{FF2B5EF4-FFF2-40B4-BE49-F238E27FC236}">
                <a16:creationId xmlns:a16="http://schemas.microsoft.com/office/drawing/2014/main" id="{9AB421D2-540B-513B-751C-83EC5E460790}"/>
              </a:ext>
            </a:extLst>
          </p:cNvPr>
          <p:cNvPicPr>
            <a:picLocks noChangeAspect="1"/>
          </p:cNvPicPr>
          <p:nvPr/>
        </p:nvPicPr>
        <p:blipFill>
          <a:blip r:embed="rId2"/>
          <a:stretch>
            <a:fillRect/>
          </a:stretch>
        </p:blipFill>
        <p:spPr>
          <a:xfrm>
            <a:off x="590205" y="110276"/>
            <a:ext cx="7963590" cy="4922947"/>
          </a:xfrm>
          <a:prstGeom prst="rect">
            <a:avLst/>
          </a:prstGeom>
        </p:spPr>
      </p:pic>
    </p:spTree>
    <p:extLst>
      <p:ext uri="{BB962C8B-B14F-4D97-AF65-F5344CB8AC3E}">
        <p14:creationId xmlns:p14="http://schemas.microsoft.com/office/powerpoint/2010/main" val="3929845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Proteus simulation</a:t>
            </a:r>
            <a:endParaRPr lang="en-US" sz="3000" dirty="0"/>
          </a:p>
        </p:txBody>
      </p:sp>
      <p:pic>
        <p:nvPicPr>
          <p:cNvPr id="3" name="Captura Pulso 1 V · 0,5 Hz" descr="/home/claude/informe_latex/figuras/proteus_pulso.png"/>
          <p:cNvPicPr>
            <a:picLocks noChangeAspect="1"/>
          </p:cNvPicPr>
          <p:nvPr/>
        </p:nvPicPr>
        <p:blipFill>
          <a:blip r:embed="rId3"/>
          <a:stretch>
            <a:fillRect/>
          </a:stretch>
        </p:blipFill>
        <p:spPr>
          <a:xfrm>
            <a:off x="365760" y="1259238"/>
            <a:ext cx="2651760" cy="2602163"/>
          </a:xfrm>
          <a:prstGeom prst="rect">
            <a:avLst/>
          </a:prstGeom>
        </p:spPr>
      </p:pic>
      <p:sp>
        <p:nvSpPr>
          <p:cNvPr id="4" name="Text 1"/>
          <p:cNvSpPr txBox="1"/>
          <p:nvPr/>
        </p:nvSpPr>
        <p:spPr>
          <a:xfrm>
            <a:off x="36576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1 V pulse · 0.5 Hz</a:t>
            </a:r>
            <a:endParaRPr lang="en-US" sz="1400" dirty="0"/>
          </a:p>
        </p:txBody>
      </p:sp>
      <p:pic>
        <p:nvPicPr>
          <p:cNvPr id="5" name="Captura Seno 2 Vpp · 0,5 Hz" descr="/home/claude/informe_latex/figuras/proteus_seno.png"/>
          <p:cNvPicPr>
            <a:picLocks noChangeAspect="1"/>
          </p:cNvPicPr>
          <p:nvPr/>
        </p:nvPicPr>
        <p:blipFill>
          <a:blip r:embed="rId4"/>
          <a:stretch>
            <a:fillRect/>
          </a:stretch>
        </p:blipFill>
        <p:spPr>
          <a:xfrm>
            <a:off x="3200400" y="1239232"/>
            <a:ext cx="2651760" cy="2642175"/>
          </a:xfrm>
          <a:prstGeom prst="rect">
            <a:avLst/>
          </a:prstGeom>
        </p:spPr>
      </p:pic>
      <p:sp>
        <p:nvSpPr>
          <p:cNvPr id="6" name="Text 2"/>
          <p:cNvSpPr txBox="1"/>
          <p:nvPr/>
        </p:nvSpPr>
        <p:spPr>
          <a:xfrm>
            <a:off x="320040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2 Vpp sine · 0.5 Hz</a:t>
            </a:r>
            <a:endParaRPr lang="en-US" sz="1400" dirty="0"/>
          </a:p>
        </p:txBody>
      </p:sp>
      <p:pic>
        <p:nvPicPr>
          <p:cNvPr id="7" name="Captura Latido sintético" descr="/home/claude/informe_latex/figuras/proteus_ecg.png"/>
          <p:cNvPicPr>
            <a:picLocks noChangeAspect="1"/>
          </p:cNvPicPr>
          <p:nvPr/>
        </p:nvPicPr>
        <p:blipFill>
          <a:blip r:embed="rId5"/>
          <a:stretch>
            <a:fillRect/>
          </a:stretch>
        </p:blipFill>
        <p:spPr>
          <a:xfrm>
            <a:off x="6035040" y="1286011"/>
            <a:ext cx="2651760" cy="2548618"/>
          </a:xfrm>
          <a:prstGeom prst="rect">
            <a:avLst/>
          </a:prstGeom>
        </p:spPr>
      </p:pic>
      <p:sp>
        <p:nvSpPr>
          <p:cNvPr id="8" name="Text 3"/>
          <p:cNvSpPr txBox="1"/>
          <p:nvPr/>
        </p:nvSpPr>
        <p:spPr>
          <a:xfrm>
            <a:off x="603504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Synthetic heartbeat</a:t>
            </a:r>
            <a:endParaRPr lang="en-US" sz="1400" dirty="0"/>
          </a:p>
        </p:txBody>
      </p:sp>
      <p:sp>
        <p:nvSpPr>
          <p:cNvPr id="9" name="Text 4"/>
          <p:cNvSpPr txBox="1"/>
          <p:nvPr/>
        </p:nvSpPr>
        <p:spPr>
          <a:xfrm>
            <a:off x="365760" y="4572000"/>
            <a:ext cx="7863840" cy="274320"/>
          </a:xfrm>
          <a:prstGeom prst="rect">
            <a:avLst/>
          </a:prstGeom>
          <a:noFill/>
          <a:ln/>
        </p:spPr>
        <p:txBody>
          <a:bodyPr wrap="square" lIns="0" tIns="0" rIns="0" bIns="0" rtlCol="0" anchor="ctr"/>
          <a:lstStyle/>
          <a:p>
            <a:pPr marL="0" indent="0">
              <a:buNone/>
            </a:pPr>
            <a:r>
              <a:rPr lang="en-US" sz="1100" dirty="0">
                <a:solidFill>
                  <a:schemeClr val="accent3"/>
                </a:solidFill>
              </a:rPr>
              <a:t>Yellow: input · Blue: Vr · Pink: Venv · Green: output</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isplays a waveform graph showing a pulse with a peak-to-peak voltage of 1 V at a frequency of 1.2 Hz, with a pulse width of 75 milliseconds.&#10;&#10;El contenido generado por IA puede ser incorrecto.">
            <a:extLst>
              <a:ext uri="{FF2B5EF4-FFF2-40B4-BE49-F238E27FC236}">
                <a16:creationId xmlns:a16="http://schemas.microsoft.com/office/drawing/2014/main" id="{96861C95-33A2-EAFD-6553-384FB415CBDD}"/>
              </a:ext>
            </a:extLst>
          </p:cNvPr>
          <p:cNvPicPr>
            <a:picLocks noChangeAspect="1"/>
          </p:cNvPicPr>
          <p:nvPr/>
        </p:nvPicPr>
        <p:blipFill>
          <a:blip r:embed="rId2"/>
          <a:stretch>
            <a:fillRect/>
          </a:stretch>
        </p:blipFill>
        <p:spPr>
          <a:xfrm>
            <a:off x="-91392" y="374219"/>
            <a:ext cx="4336388" cy="4242441"/>
          </a:xfrm>
          <a:prstGeom prst="rect">
            <a:avLst/>
          </a:prstGeom>
        </p:spPr>
      </p:pic>
      <p:pic>
        <p:nvPicPr>
          <p:cNvPr id="8" name="Imagen 7" descr="The image depicts two sine waveforms, one at 2 Vpp with a frequency of 0.5 Hz, showing two cycles, and another at 2 Vpp with a frequency of 1.5 Hz, with a constant high amplitude.&#10;&#10;El contenido generado por IA puede ser incorrecto.">
            <a:extLst>
              <a:ext uri="{FF2B5EF4-FFF2-40B4-BE49-F238E27FC236}">
                <a16:creationId xmlns:a16="http://schemas.microsoft.com/office/drawing/2014/main" id="{8D629148-5091-3A1B-DC54-22B1BC67A8DE}"/>
              </a:ext>
            </a:extLst>
          </p:cNvPr>
          <p:cNvPicPr>
            <a:picLocks noChangeAspect="1"/>
          </p:cNvPicPr>
          <p:nvPr/>
        </p:nvPicPr>
        <p:blipFill>
          <a:blip r:embed="rId3"/>
          <a:stretch>
            <a:fillRect/>
          </a:stretch>
        </p:blipFill>
        <p:spPr>
          <a:xfrm>
            <a:off x="4155346" y="781177"/>
            <a:ext cx="5057521" cy="3706045"/>
          </a:xfrm>
          <a:prstGeom prst="rect">
            <a:avLst/>
          </a:prstGeom>
        </p:spPr>
      </p:pic>
    </p:spTree>
    <p:extLst>
      <p:ext uri="{BB962C8B-B14F-4D97-AF65-F5344CB8AC3E}">
        <p14:creationId xmlns:p14="http://schemas.microsoft.com/office/powerpoint/2010/main" val="3364185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Simulation vs calculation</a:t>
            </a:r>
            <a:endParaRPr lang="en-US" sz="3000" dirty="0"/>
          </a:p>
        </p:txBody>
      </p:sp>
      <p:sp>
        <p:nvSpPr>
          <p:cNvPr id="3" name="Dato 0"/>
          <p:cNvSpPr/>
          <p:nvPr/>
        </p:nvSpPr>
        <p:spPr>
          <a:xfrm>
            <a:off x="457200" y="1280160"/>
            <a:ext cx="1874520" cy="1737360"/>
          </a:xfrm>
          <a:prstGeom prst="roundRect">
            <a:avLst>
              <a:gd name="adj" fmla="val 5263"/>
            </a:avLst>
          </a:prstGeom>
          <a:solidFill>
            <a:schemeClr val="bg2"/>
          </a:solidFill>
          <a:ln w="12700">
            <a:solidFill>
              <a:schemeClr val="bg2"/>
            </a:solidFill>
            <a:prstDash val="solid"/>
          </a:ln>
        </p:spPr>
        <p:txBody>
          <a:bodyPr/>
          <a:p/>
        </p:txBody>
      </p:sp>
      <p:sp>
        <p:nvSpPr>
          <p:cNvPr id="4" name="Text 2"/>
          <p:cNvSpPr txBox="1"/>
          <p:nvPr/>
        </p:nvSpPr>
        <p:spPr>
          <a:xfrm>
            <a:off x="59436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4.90 V</a:t>
            </a:r>
            <a:endParaRPr lang="en-US" sz="3600" dirty="0"/>
          </a:p>
        </p:txBody>
      </p:sp>
      <p:sp>
        <p:nvSpPr>
          <p:cNvPr id="5" name="Text 3"/>
          <p:cNvSpPr txBox="1"/>
          <p:nvPr/>
        </p:nvSpPr>
        <p:spPr>
          <a:xfrm>
            <a:off x="59436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Vr peak (calc. 4.90 V)</a:t>
            </a:r>
            <a:endParaRPr lang="en-US" sz="1300" dirty="0"/>
          </a:p>
        </p:txBody>
      </p:sp>
      <p:sp>
        <p:nvSpPr>
          <p:cNvPr id="6" name="Dato 1"/>
          <p:cNvSpPr/>
          <p:nvPr/>
        </p:nvSpPr>
        <p:spPr>
          <a:xfrm>
            <a:off x="2560320" y="1280160"/>
            <a:ext cx="1874520" cy="1737360"/>
          </a:xfrm>
          <a:prstGeom prst="roundRect">
            <a:avLst>
              <a:gd name="adj" fmla="val 5263"/>
            </a:avLst>
          </a:prstGeom>
          <a:solidFill>
            <a:schemeClr val="bg2"/>
          </a:solidFill>
          <a:ln w="12700">
            <a:solidFill>
              <a:schemeClr val="bg2"/>
            </a:solidFill>
            <a:prstDash val="solid"/>
          </a:ln>
        </p:spPr>
        <p:txBody>
          <a:bodyPr/>
          <a:p/>
        </p:txBody>
      </p:sp>
      <p:sp>
        <p:nvSpPr>
          <p:cNvPr id="7" name="Text 5"/>
          <p:cNvSpPr txBox="1"/>
          <p:nvPr/>
        </p:nvSpPr>
        <p:spPr>
          <a:xfrm>
            <a:off x="269748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400 ms</a:t>
            </a:r>
            <a:endParaRPr lang="en-US" sz="3600" dirty="0"/>
          </a:p>
        </p:txBody>
      </p:sp>
      <p:sp>
        <p:nvSpPr>
          <p:cNvPr id="8" name="Text 6"/>
          <p:cNvSpPr txBox="1"/>
          <p:nvPr/>
        </p:nvSpPr>
        <p:spPr>
          <a:xfrm>
            <a:off x="269748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output width (calc. 405 ms)</a:t>
            </a:r>
            <a:endParaRPr lang="en-US" sz="1300" dirty="0"/>
          </a:p>
        </p:txBody>
      </p:sp>
      <p:sp>
        <p:nvSpPr>
          <p:cNvPr id="9" name="Dato 2"/>
          <p:cNvSpPr/>
          <p:nvPr/>
        </p:nvSpPr>
        <p:spPr>
          <a:xfrm>
            <a:off x="4663440" y="1280160"/>
            <a:ext cx="1874520" cy="1737360"/>
          </a:xfrm>
          <a:prstGeom prst="roundRect">
            <a:avLst>
              <a:gd name="adj" fmla="val 5263"/>
            </a:avLst>
          </a:prstGeom>
          <a:solidFill>
            <a:schemeClr val="bg2"/>
          </a:solidFill>
          <a:ln w="12700">
            <a:solidFill>
              <a:schemeClr val="bg2"/>
            </a:solidFill>
            <a:prstDash val="solid"/>
          </a:ln>
        </p:spPr>
        <p:txBody>
          <a:bodyPr/>
          <a:p/>
        </p:txBody>
      </p:sp>
      <p:sp>
        <p:nvSpPr>
          <p:cNvPr id="10" name="Text 8"/>
          <p:cNvSpPr txBox="1"/>
          <p:nvPr/>
        </p:nvSpPr>
        <p:spPr>
          <a:xfrm>
            <a:off x="480060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2</a:t>
            </a:r>
            <a:endParaRPr lang="en-US" sz="3600" dirty="0"/>
          </a:p>
        </p:txBody>
      </p:sp>
      <p:sp>
        <p:nvSpPr>
          <p:cNvPr id="11" name="Text 9"/>
          <p:cNvSpPr txBox="1"/>
          <p:nvPr/>
        </p:nvSpPr>
        <p:spPr>
          <a:xfrm>
            <a:off x="480060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pulses per sine cycle</a:t>
            </a:r>
            <a:endParaRPr lang="en-US" sz="1300" dirty="0"/>
          </a:p>
        </p:txBody>
      </p:sp>
      <p:sp>
        <p:nvSpPr>
          <p:cNvPr id="12" name="Dato 3"/>
          <p:cNvSpPr/>
          <p:nvPr/>
        </p:nvSpPr>
        <p:spPr>
          <a:xfrm>
            <a:off x="6766560" y="1280160"/>
            <a:ext cx="1874520" cy="1737360"/>
          </a:xfrm>
          <a:prstGeom prst="roundRect">
            <a:avLst>
              <a:gd name="adj" fmla="val 5263"/>
            </a:avLst>
          </a:prstGeom>
          <a:solidFill>
            <a:schemeClr val="bg2"/>
          </a:solidFill>
          <a:ln w="12700">
            <a:solidFill>
              <a:schemeClr val="bg2"/>
            </a:solidFill>
            <a:prstDash val="solid"/>
          </a:ln>
        </p:spPr>
        <p:txBody>
          <a:bodyPr/>
          <a:p/>
        </p:txBody>
      </p:sp>
      <p:sp>
        <p:nvSpPr>
          <p:cNvPr id="13" name="Text 11"/>
          <p:cNvSpPr txBox="1"/>
          <p:nvPr/>
        </p:nvSpPr>
        <p:spPr>
          <a:xfrm>
            <a:off x="6903720" y="1508760"/>
            <a:ext cx="1600200" cy="685800"/>
          </a:xfrm>
          <a:prstGeom prst="rect">
            <a:avLst/>
          </a:prstGeom>
          <a:noFill/>
          <a:ln/>
        </p:spPr>
        <p:txBody>
          <a:bodyPr wrap="square" lIns="0" tIns="0" rIns="0" bIns="0" rtlCol="0" anchor="ctr"/>
          <a:lstStyle/>
          <a:p>
            <a:pPr marL="0" indent="0">
              <a:buNone/>
            </a:pPr>
            <a:r>
              <a:rPr lang="en-US" sz="3600" b="1" dirty="0">
                <a:solidFill>
                  <a:schemeClr val="accent2"/>
                </a:solidFill>
              </a:rPr>
              <a:t>≤ 1.6 %</a:t>
            </a:r>
            <a:endParaRPr lang="en-US" sz="3600" dirty="0"/>
          </a:p>
        </p:txBody>
      </p:sp>
      <p:sp>
        <p:nvSpPr>
          <p:cNvPr id="14" name="Text 12"/>
          <p:cNvSpPr txBox="1"/>
          <p:nvPr/>
        </p:nvSpPr>
        <p:spPr>
          <a:xfrm>
            <a:off x="690372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maximum error</a:t>
            </a:r>
            <a:endParaRPr lang="en-US" sz="1300" dirty="0"/>
          </a:p>
        </p:txBody>
      </p:sp>
      <p:sp>
        <p:nvSpPr>
          <p:cNvPr id="15" name="Tarjeta Pendiente en el laboratorio"/>
          <p:cNvSpPr/>
          <p:nvPr/>
        </p:nvSpPr>
        <p:spPr>
          <a:xfrm>
            <a:off x="457200" y="3337560"/>
            <a:ext cx="8229600" cy="914400"/>
          </a:xfrm>
          <a:prstGeom prst="roundRect">
            <a:avLst>
              <a:gd name="adj" fmla="val 8000"/>
            </a:avLst>
          </a:prstGeom>
          <a:solidFill>
            <a:schemeClr val="bg2"/>
          </a:solidFill>
          <a:ln w="12700">
            <a:solidFill>
              <a:schemeClr val="bg2"/>
            </a:solidFill>
            <a:prstDash val="solid"/>
          </a:ln>
        </p:spPr>
        <p:txBody>
          <a:bodyPr/>
          <a:p/>
        </p:txBody>
      </p:sp>
      <p:sp>
        <p:nvSpPr>
          <p:cNvPr id="16" name="Text 14"/>
          <p:cNvSpPr txBox="1"/>
          <p:nvPr/>
        </p:nvSpPr>
        <p:spPr>
          <a:xfrm>
            <a:off x="640080" y="3474720"/>
            <a:ext cx="7863840" cy="6400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Pending in the lab</a:t>
            </a:r>
            <a:endParaRPr lang="en-US" sz="1600" dirty="0"/>
          </a:p>
          <a:p>
            <a:pPr marL="342900" indent="-342900">
              <a:spcAft>
                <a:spcPts val="600"/>
              </a:spcAft>
              <a:buSzPct val="100000"/>
              <a:buChar char="•"/>
            </a:pPr>
            <a:r>
              <a:rPr lang="en-US" sz="1500" dirty="0">
                <a:solidFill>
                  <a:schemeClr val="tx1"/>
                </a:solidFill>
              </a:rPr>
              <a:t>Measure τ, VTH, VTL and offset on the real build</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bg1"/>
                </a:solidFill>
              </a:rPr>
              <a:t>Conclusions</a:t>
            </a:r>
            <a:endParaRPr lang="en-US" sz="3000" dirty="0"/>
          </a:p>
        </p:txBody>
      </p:sp>
      <p:sp>
        <p:nvSpPr>
          <p:cNvPr id="3" name="Punto 1"/>
          <p:cNvSpPr/>
          <p:nvPr/>
        </p:nvSpPr>
        <p:spPr>
          <a:xfrm>
            <a:off x="548640" y="1280160"/>
            <a:ext cx="457200" cy="457200"/>
          </a:xfrm>
          <a:prstGeom prst="ellipse">
            <a:avLst/>
          </a:prstGeom>
          <a:solidFill>
            <a:schemeClr val="accent1"/>
          </a:solidFill>
          <a:ln w="12700">
            <a:solidFill>
              <a:schemeClr val="accent1"/>
            </a:solidFill>
            <a:prstDash val="solid"/>
          </a:ln>
        </p:spPr>
        <p:txBody>
          <a:bodyPr/>
          <a:p/>
        </p:txBody>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234440" y="118872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Polarity  </a:t>
            </a:r>
            <a:r>
              <a:rPr lang="en-US" sz="1800" dirty="0">
                <a:solidFill>
                  <a:schemeClr val="bg1"/>
                </a:solidFill>
              </a:rPr>
              <a:t>The precision rectifier detects both positive and negative R waves</a:t>
            </a:r>
            <a:endParaRPr lang="en-US" sz="1800" dirty="0"/>
          </a:p>
        </p:txBody>
      </p:sp>
      <p:sp>
        <p:nvSpPr>
          <p:cNvPr id="6" name="Punto 2"/>
          <p:cNvSpPr/>
          <p:nvPr/>
        </p:nvSpPr>
        <p:spPr>
          <a:xfrm>
            <a:off x="548640" y="2148840"/>
            <a:ext cx="457200" cy="457200"/>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548640" y="21488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1234440" y="205740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One pulse  </a:t>
            </a:r>
            <a:r>
              <a:rPr lang="en-US" sz="1800" dirty="0">
                <a:solidFill>
                  <a:schemeClr val="bg1"/>
                </a:solidFill>
              </a:rPr>
              <a:t>The peak detector merges the QRS; τ = 100 ms is the critical parameter</a:t>
            </a:r>
            <a:endParaRPr lang="en-US" sz="1800" dirty="0"/>
          </a:p>
        </p:txBody>
      </p:sp>
      <p:sp>
        <p:nvSpPr>
          <p:cNvPr id="9" name="Punto 3"/>
          <p:cNvSpPr/>
          <p:nvPr/>
        </p:nvSpPr>
        <p:spPr>
          <a:xfrm>
            <a:off x="548640" y="3017520"/>
            <a:ext cx="457200" cy="457200"/>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548640" y="30175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Text 9"/>
          <p:cNvSpPr txBox="1"/>
          <p:nvPr/>
        </p:nvSpPr>
        <p:spPr>
          <a:xfrm>
            <a:off x="1234440" y="292608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No chatter  </a:t>
            </a:r>
            <a:r>
              <a:rPr lang="en-US" sz="1800" dirty="0">
                <a:solidFill>
                  <a:schemeClr val="bg1"/>
                </a:solidFill>
              </a:rPr>
              <a:t>Schmitt hysteresis gives clean transitions</a:t>
            </a:r>
            <a:endParaRPr lang="en-US" sz="1800" dirty="0"/>
          </a:p>
        </p:txBody>
      </p:sp>
      <p:sp>
        <p:nvSpPr>
          <p:cNvPr id="12" name="Punto 4"/>
          <p:cNvSpPr/>
          <p:nvPr/>
        </p:nvSpPr>
        <p:spPr>
          <a:xfrm>
            <a:off x="548640" y="3886200"/>
            <a:ext cx="457200" cy="457200"/>
          </a:xfrm>
          <a:prstGeom prst="ellipse">
            <a:avLst/>
          </a:prstGeom>
          <a:solidFill>
            <a:schemeClr val="accent1"/>
          </a:solidFill>
          <a:ln w="12700">
            <a:solidFill>
              <a:schemeClr val="accent1"/>
            </a:solidFill>
            <a:prstDash val="solid"/>
          </a:ln>
        </p:spPr>
        <p:txBody>
          <a:bodyPr/>
          <a:p/>
        </p:txBody>
      </p:sp>
      <p:sp>
        <p:nvSpPr>
          <p:cNvPr id="13" name="Text 11"/>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4" name="Text 12"/>
          <p:cNvSpPr txBox="1"/>
          <p:nvPr/>
        </p:nvSpPr>
        <p:spPr>
          <a:xfrm>
            <a:off x="1234440" y="379476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Validated  </a:t>
            </a:r>
            <a:r>
              <a:rPr lang="en-US" sz="1800" dirty="0">
                <a:solidFill>
                  <a:schemeClr val="bg1"/>
                </a:solidFill>
              </a:rPr>
              <a:t>Proteus matches the calculation (error ≤ 1.6 %)</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7BEBC1-87FC-888B-24DB-ECB6CA3A1FB9}"/>
              </a:ext>
            </a:extLst>
          </p:cNvPr>
          <p:cNvSpPr>
            <a:spLocks noGrp="1"/>
          </p:cNvSpPr>
          <p:nvPr>
            <p:ph type="title" idx="100"/>
          </p:nvPr>
        </p:nvSpPr>
        <p:spPr>
          <a:xfrm>
            <a:off x="457200" y="1245340"/>
            <a:ext cx="8229600" cy="2365934"/>
          </a:xfrm>
        </p:spPr>
        <p:txBody>
          <a:bodyPr/>
          <a:lstStyle/>
          <a:p>
            <a:r>
              <a:rPr lang="es-ES" dirty="0"/>
              <a:t>References</a:t>
            </a:r>
            <a:br>
              <a:rPr lang="es-ES" dirty="0"/>
            </a:br>
            <a:r>
              <a:rPr lang="es-ES" dirty="0"/>
              <a:t> </a:t>
            </a:r>
            <a:br>
              <a:rPr lang="es-ES" dirty="0"/>
            </a:br>
            <a:r>
              <a:rPr lang="es-ES" dirty="0"/>
              <a:t>https://github.com/Brahiam18/ecg-heartbeat-detector/tree/main</a:t>
            </a:r>
            <a:endParaRPr lang="es-CO" dirty="0"/>
          </a:p>
        </p:txBody>
      </p:sp>
    </p:spTree>
    <p:extLst>
      <p:ext uri="{BB962C8B-B14F-4D97-AF65-F5344CB8AC3E}">
        <p14:creationId xmlns:p14="http://schemas.microsoft.com/office/powerpoint/2010/main" val="3664958303"/>
      </p:ext>
    </p:extLst>
  </p:cSld>
  <p:clrMapOvr>
    <a:masterClrMapping/>
  </p:clrMapOvr>
</p:sld>
</file>

<file path=ppt/theme/theme1.xml><?xml version="1.0" encoding="utf-8"?>
<a:theme xmlns:a="http://schemas.openxmlformats.org/drawingml/2006/main" name="ECG Clinico">
  <a:themeElements>
    <a:clrScheme name="ECG Clinico">
      <a:dk1>
        <a:srgbClr val="17242F"/>
      </a:dk1>
      <a:lt1>
        <a:srgbClr val="FFFFFF"/>
      </a:lt1>
      <a:dk2>
        <a:srgbClr val="0F2A3D"/>
      </a:dk2>
      <a:lt2>
        <a:srgbClr val="EEF4F5"/>
      </a:lt2>
      <a:accent1>
        <a:srgbClr val="0E8C88"/>
      </a:accent1>
      <a:accent2>
        <a:srgbClr val="E4572E"/>
      </a:accent2>
      <a:accent3>
        <a:srgbClr val="5B7A8C"/>
      </a:accent3>
      <a:accent4>
        <a:srgbClr val="9DC9C6"/>
      </a:accent4>
      <a:accent5>
        <a:srgbClr val="F2B134"/>
      </a:accent5>
      <a:accent6>
        <a:srgbClr val="2F4858"/>
      </a:accent6>
      <a:hlink>
        <a:srgbClr val="0E8C88"/>
      </a:hlink>
      <a:folHlink>
        <a:srgbClr val="5B7A8C"/>
      </a:folHlink>
    </a:clrScheme>
    <a:fontScheme name="ECG Clinic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1058</Words>
  <Application>Microsoft Office PowerPoint</Application>
  <PresentationFormat>Presentación en pantalla (16:9)</PresentationFormat>
  <Paragraphs>140</Paragraphs>
  <Slides>29</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29</vt:i4>
      </vt:variant>
    </vt:vector>
  </HeadingPairs>
  <TitlesOfParts>
    <vt:vector size="32" baseType="lpstr">
      <vt:lpstr>Arial</vt:lpstr>
      <vt:lpstr>Calibri</vt:lpstr>
      <vt:lpstr>ECG Clinico</vt:lpstr>
      <vt:lpstr>Detector de latido ECG con op-amps</vt:lpstr>
      <vt:lpstr>Problema</vt:lpstr>
      <vt:lpstr>Un pulso por latido, sin importar la polaridad</vt:lpstr>
      <vt:lpstr>Circuito completo: 6 op-amps a ±12 V</vt:lpstr>
      <vt:lpstr>Etapa 1 · Amplificador no inversor</vt:lpstr>
      <vt:lpstr>Presentación de PowerPoint</vt:lpstr>
      <vt:lpstr>Etapa 2 · Rectificador de precisión</vt:lpstr>
      <vt:lpstr>Presentación de PowerPoint</vt:lpstr>
      <vt:lpstr>Presentación de PowerPoint</vt:lpstr>
      <vt:lpstr>Etapa 2 · Sumador: de media onda a |Vg|</vt:lpstr>
      <vt:lpstr>Presentación de PowerPoint</vt:lpstr>
      <vt:lpstr>Presentación de PowerPoint</vt:lpstr>
      <vt:lpstr>Presentación de PowerPoint</vt:lpstr>
      <vt:lpstr>Etapa 3 · Detector de pico</vt:lpstr>
      <vt:lpstr>Presentación de PowerPoint</vt:lpstr>
      <vt:lpstr>Presentación de PowerPoint</vt:lpstr>
      <vt:lpstr>Presentación de PowerPoint</vt:lpstr>
      <vt:lpstr>Presentación de PowerPoint</vt:lpstr>
      <vt:lpstr>τ fija la frecuencia cardiaca máxima</vt:lpstr>
      <vt:lpstr>Presentación de PowerPoint</vt:lpstr>
      <vt:lpstr>Etapa 4 · Comparador Schmitt</vt:lpstr>
      <vt:lpstr>Presentación de PowerPoint</vt:lpstr>
      <vt:lpstr>Presentación de PowerPoint</vt:lpstr>
      <vt:lpstr>Presentación de PowerPoint</vt:lpstr>
      <vt:lpstr>Simulación en Proteus</vt:lpstr>
      <vt:lpstr>Presentación de PowerPoint</vt:lpstr>
      <vt:lpstr>Simulación vs cálculo</vt:lpstr>
      <vt:lpstr>Conclusiones</vt:lpstr>
      <vt:lpstr>Referencias   https://github.com/Brahiam18/detector-latido-ecg/tree/main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Detector de latido ECG con amplificadores operacionales</dc:title>
  <dc:subject>PptxGenJS Presentation</dc:subject>
  <dc:creator>Brahiam Alberto Campiño Romero</dc:creator>
  <cp:lastModifiedBy>BRAHIAM CAMPIÑO</cp:lastModifiedBy>
  <cp:revision>4</cp:revision>
  <dcterms:created xsi:type="dcterms:W3CDTF">2026-10-08T00:37:59Z</dcterms:created>
  <dcterms:modified xsi:type="dcterms:W3CDTF">2026-10-08T21:55:46Z</dcterms:modified>
</cp:coreProperties>
</file>